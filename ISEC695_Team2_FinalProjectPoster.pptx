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
  </p:notesMasterIdLst>
  <p:sldIdLst>
    <p:sldId id="257" r:id="rId2"/>
  </p:sldIdLst>
  <p:sldSz cx="43891200" cy="32918400"/>
  <p:notesSz cx="7077075" cy="90043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2047875" indent="-14986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4095750" indent="-29972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6143625" indent="-4497388"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8191500" indent="-5995988"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0E3E89"/>
    <a:srgbClr val="EAEAEA"/>
    <a:srgbClr val="99CCFF"/>
    <a:srgbClr val="6699FF"/>
    <a:srgbClr val="FFFFCC"/>
    <a:srgbClr val="CCFFCC"/>
    <a:srgbClr val="FFCC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008" autoAdjust="0"/>
    <p:restoredTop sz="90678" autoAdjust="0"/>
  </p:normalViewPr>
  <p:slideViewPr>
    <p:cSldViewPr>
      <p:cViewPr>
        <p:scale>
          <a:sx n="37" d="100"/>
          <a:sy n="37" d="100"/>
        </p:scale>
        <p:origin x="-4236" y="-1636"/>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mola Aderibigbe" userId="90c2a326-7e91-4e7f-97a3-87057167b4af" providerId="ADAL" clId="{2D009EF2-E5AC-4398-8D07-08D5DD448BD3}"/>
    <pc:docChg chg="modSld">
      <pc:chgData name="Ademola Aderibigbe" userId="90c2a326-7e91-4e7f-97a3-87057167b4af" providerId="ADAL" clId="{2D009EF2-E5AC-4398-8D07-08D5DD448BD3}" dt="2026-04-28T14:13:30.480" v="3" actId="1076"/>
      <pc:docMkLst>
        <pc:docMk/>
      </pc:docMkLst>
      <pc:sldChg chg="modSp mod">
        <pc:chgData name="Ademola Aderibigbe" userId="90c2a326-7e91-4e7f-97a3-87057167b4af" providerId="ADAL" clId="{2D009EF2-E5AC-4398-8D07-08D5DD448BD3}" dt="2026-04-28T14:13:30.480" v="3" actId="1076"/>
        <pc:sldMkLst>
          <pc:docMk/>
          <pc:sldMk cId="0" sldId="257"/>
        </pc:sldMkLst>
        <pc:graphicFrameChg chg="mod modGraphic">
          <ac:chgData name="Ademola Aderibigbe" userId="90c2a326-7e91-4e7f-97a3-87057167b4af" providerId="ADAL" clId="{2D009EF2-E5AC-4398-8D07-08D5DD448BD3}" dt="2026-04-28T14:13:30.480" v="3" actId="1076"/>
          <ac:graphicFrameMkLst>
            <pc:docMk/>
            <pc:sldMk cId="0" sldId="257"/>
            <ac:graphicFrameMk id="3" creationId="{BC959DBD-5D71-33E5-FAEA-F23DFBC1AC7F}"/>
          </ac:graphicFrameMkLst>
        </pc:graphicFrameChg>
        <pc:graphicFrameChg chg="mod">
          <ac:chgData name="Ademola Aderibigbe" userId="90c2a326-7e91-4e7f-97a3-87057167b4af" providerId="ADAL" clId="{2D009EF2-E5AC-4398-8D07-08D5DD448BD3}" dt="2026-04-28T14:13:21.702" v="0" actId="1076"/>
          <ac:graphicFrameMkLst>
            <pc:docMk/>
            <pc:sldMk cId="0" sldId="257"/>
            <ac:graphicFrameMk id="6" creationId="{8C1F740B-726E-E8F0-6FDE-718A0760836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50850"/>
          </a:xfrm>
          <a:prstGeom prst="rect">
            <a:avLst/>
          </a:prstGeom>
        </p:spPr>
        <p:txBody>
          <a:bodyPr vert="horz" lIns="91440" tIns="45720" rIns="91440" bIns="45720" rtlCol="0"/>
          <a:lstStyle>
            <a:lvl1pPr algn="l">
              <a:defRPr sz="1200">
                <a:ea typeface="+mn-ea"/>
                <a:cs typeface="Arial" charset="0"/>
              </a:defRPr>
            </a:lvl1pPr>
          </a:lstStyle>
          <a:p>
            <a:pPr>
              <a:defRPr/>
            </a:pPr>
            <a:endParaRPr lang="en-US"/>
          </a:p>
        </p:txBody>
      </p:sp>
      <p:sp>
        <p:nvSpPr>
          <p:cNvPr id="3" name="Date Placeholder 2"/>
          <p:cNvSpPr>
            <a:spLocks noGrp="1"/>
          </p:cNvSpPr>
          <p:nvPr>
            <p:ph type="dt" idx="1"/>
          </p:nvPr>
        </p:nvSpPr>
        <p:spPr>
          <a:xfrm>
            <a:off x="4008438" y="0"/>
            <a:ext cx="3067050" cy="450850"/>
          </a:xfrm>
          <a:prstGeom prst="rect">
            <a:avLst/>
          </a:prstGeom>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pPr>
              <a:defRPr/>
            </a:pPr>
            <a:fld id="{3D301912-AEED-6742-A58F-953BA984D367}" type="datetimeFigureOut">
              <a:rPr lang="en-US"/>
              <a:pPr>
                <a:defRPr/>
              </a:pPr>
              <a:t>4/29/2026</a:t>
            </a:fld>
            <a:endParaRPr lang="en-US"/>
          </a:p>
        </p:txBody>
      </p:sp>
      <p:sp>
        <p:nvSpPr>
          <p:cNvPr id="4" name="Slide Image Placeholder 3"/>
          <p:cNvSpPr>
            <a:spLocks noGrp="1" noRot="1" noChangeAspect="1"/>
          </p:cNvSpPr>
          <p:nvPr>
            <p:ph type="sldImg" idx="2"/>
          </p:nvPr>
        </p:nvSpPr>
        <p:spPr>
          <a:xfrm>
            <a:off x="1287463" y="674688"/>
            <a:ext cx="4502150" cy="3376612"/>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8025" y="4276725"/>
            <a:ext cx="5661025" cy="405288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551863"/>
            <a:ext cx="3067050" cy="450850"/>
          </a:xfrm>
          <a:prstGeom prst="rect">
            <a:avLst/>
          </a:prstGeom>
        </p:spPr>
        <p:txBody>
          <a:bodyPr vert="horz" lIns="91440" tIns="45720" rIns="91440" bIns="45720" rtlCol="0" anchor="b"/>
          <a:lstStyle>
            <a:lvl1pPr algn="l">
              <a:defRPr sz="1200">
                <a:ea typeface="+mn-ea"/>
                <a:cs typeface="Arial" charset="0"/>
              </a:defRPr>
            </a:lvl1pPr>
          </a:lstStyle>
          <a:p>
            <a:pPr>
              <a:defRPr/>
            </a:pPr>
            <a:endParaRPr lang="en-US"/>
          </a:p>
        </p:txBody>
      </p:sp>
      <p:sp>
        <p:nvSpPr>
          <p:cNvPr id="7" name="Slide Number Placeholder 6"/>
          <p:cNvSpPr>
            <a:spLocks noGrp="1"/>
          </p:cNvSpPr>
          <p:nvPr>
            <p:ph type="sldNum" sz="quarter" idx="5"/>
          </p:nvPr>
        </p:nvSpPr>
        <p:spPr>
          <a:xfrm>
            <a:off x="4008438" y="8551863"/>
            <a:ext cx="3067050" cy="450850"/>
          </a:xfrm>
          <a:prstGeom prst="rect">
            <a:avLst/>
          </a:prstGeom>
        </p:spPr>
        <p:txBody>
          <a:bodyPr vert="horz" wrap="square" lIns="91440" tIns="45720" rIns="91440" bIns="45720" numCol="1" anchor="b" anchorCtr="0" compatLnSpc="1">
            <a:prstTxWarp prst="textNoShape">
              <a:avLst/>
            </a:prstTxWarp>
          </a:bodyPr>
          <a:lstStyle>
            <a:lvl1pPr algn="r">
              <a:defRPr sz="1200" smtClean="0">
                <a:cs typeface="Arial" charset="0"/>
              </a:defRPr>
            </a:lvl1pPr>
          </a:lstStyle>
          <a:p>
            <a:pPr>
              <a:defRPr/>
            </a:pPr>
            <a:fld id="{9FE1BC4D-9211-2E48-AC9E-F7906FA676A5}" type="slidenum">
              <a:rPr lang="en-US"/>
              <a:pPr>
                <a:defRPr/>
              </a:pPr>
              <a:t>‹#›</a:t>
            </a:fld>
            <a:endParaRPr lang="en-US"/>
          </a:p>
        </p:txBody>
      </p:sp>
    </p:spTree>
    <p:extLst>
      <p:ext uri="{BB962C8B-B14F-4D97-AF65-F5344CB8AC3E}">
        <p14:creationId xmlns:p14="http://schemas.microsoft.com/office/powerpoint/2010/main" val="1610917659"/>
      </p:ext>
    </p:extLst>
  </p:cSld>
  <p:clrMap bg1="lt1" tx1="dk1" bg2="lt2" tx2="dk2" accent1="accent1" accent2="accent2" accent3="accent3" accent4="accent4" accent5="accent5" accent6="accent6" hlink="hlink" folHlink="folHlink"/>
  <p:notesStyle>
    <a:lvl1pPr algn="l" defTabSz="4095750" rtl="0" eaLnBrk="0" fontAlgn="base" hangingPunct="0">
      <a:spcBef>
        <a:spcPct val="30000"/>
      </a:spcBef>
      <a:spcAft>
        <a:spcPct val="0"/>
      </a:spcAft>
      <a:defRPr sz="5400" kern="1200">
        <a:solidFill>
          <a:schemeClr val="tx1"/>
        </a:solidFill>
        <a:latin typeface="+mn-lt"/>
        <a:ea typeface="ＭＳ Ｐゴシック" charset="0"/>
        <a:cs typeface="ＭＳ Ｐゴシック" charset="0"/>
      </a:defRPr>
    </a:lvl1pPr>
    <a:lvl2pPr marL="2047875" algn="l" defTabSz="4095750" rtl="0" eaLnBrk="0" fontAlgn="base" hangingPunct="0">
      <a:spcBef>
        <a:spcPct val="30000"/>
      </a:spcBef>
      <a:spcAft>
        <a:spcPct val="0"/>
      </a:spcAft>
      <a:defRPr sz="5400" kern="1200">
        <a:solidFill>
          <a:schemeClr val="tx1"/>
        </a:solidFill>
        <a:latin typeface="+mn-lt"/>
        <a:ea typeface="ＭＳ Ｐゴシック" charset="0"/>
        <a:cs typeface="+mn-cs"/>
      </a:defRPr>
    </a:lvl2pPr>
    <a:lvl3pPr marL="4095750" algn="l" defTabSz="4095750" rtl="0" eaLnBrk="0" fontAlgn="base" hangingPunct="0">
      <a:spcBef>
        <a:spcPct val="30000"/>
      </a:spcBef>
      <a:spcAft>
        <a:spcPct val="0"/>
      </a:spcAft>
      <a:defRPr sz="5400" kern="1200">
        <a:solidFill>
          <a:schemeClr val="tx1"/>
        </a:solidFill>
        <a:latin typeface="+mn-lt"/>
        <a:ea typeface="ＭＳ Ｐゴシック" charset="0"/>
        <a:cs typeface="+mn-cs"/>
      </a:defRPr>
    </a:lvl3pPr>
    <a:lvl4pPr marL="6143625" algn="l" defTabSz="4095750" rtl="0" eaLnBrk="0" fontAlgn="base" hangingPunct="0">
      <a:spcBef>
        <a:spcPct val="30000"/>
      </a:spcBef>
      <a:spcAft>
        <a:spcPct val="0"/>
      </a:spcAft>
      <a:defRPr sz="5400" kern="1200">
        <a:solidFill>
          <a:schemeClr val="tx1"/>
        </a:solidFill>
        <a:latin typeface="+mn-lt"/>
        <a:ea typeface="ＭＳ Ｐゴシック" charset="0"/>
        <a:cs typeface="+mn-cs"/>
      </a:defRPr>
    </a:lvl4pPr>
    <a:lvl5pPr marL="8191500" algn="l" defTabSz="4095750" rtl="0" eaLnBrk="0" fontAlgn="base" hangingPunct="0">
      <a:spcBef>
        <a:spcPct val="30000"/>
      </a:spcBef>
      <a:spcAft>
        <a:spcPct val="0"/>
      </a:spcAft>
      <a:defRPr sz="5400" kern="1200">
        <a:solidFill>
          <a:schemeClr val="tx1"/>
        </a:solidFill>
        <a:latin typeface="+mn-lt"/>
        <a:ea typeface="ＭＳ Ｐゴシック" charset="0"/>
        <a:cs typeface="+mn-cs"/>
      </a:defRPr>
    </a:lvl5pPr>
    <a:lvl6pPr marL="10241189" algn="l" defTabSz="4096476" rtl="0" eaLnBrk="1" latinLnBrk="0" hangingPunct="1">
      <a:defRPr sz="5400" kern="1200">
        <a:solidFill>
          <a:schemeClr val="tx1"/>
        </a:solidFill>
        <a:latin typeface="+mn-lt"/>
        <a:ea typeface="+mn-ea"/>
        <a:cs typeface="+mn-cs"/>
      </a:defRPr>
    </a:lvl6pPr>
    <a:lvl7pPr marL="12289427" algn="l" defTabSz="4096476" rtl="0" eaLnBrk="1" latinLnBrk="0" hangingPunct="1">
      <a:defRPr sz="5400" kern="1200">
        <a:solidFill>
          <a:schemeClr val="tx1"/>
        </a:solidFill>
        <a:latin typeface="+mn-lt"/>
        <a:ea typeface="+mn-ea"/>
        <a:cs typeface="+mn-cs"/>
      </a:defRPr>
    </a:lvl7pPr>
    <a:lvl8pPr marL="14337664" algn="l" defTabSz="4096476" rtl="0" eaLnBrk="1" latinLnBrk="0" hangingPunct="1">
      <a:defRPr sz="5400" kern="1200">
        <a:solidFill>
          <a:schemeClr val="tx1"/>
        </a:solidFill>
        <a:latin typeface="+mn-lt"/>
        <a:ea typeface="+mn-ea"/>
        <a:cs typeface="+mn-cs"/>
      </a:defRPr>
    </a:lvl8pPr>
    <a:lvl9pPr marL="16385902" algn="l" defTabSz="4096476" rtl="0" eaLnBrk="1" latinLnBrk="0" hangingPunct="1">
      <a:defRPr sz="5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FE1BC4D-9211-2E48-AC9E-F7906FA676A5}" type="slidenum">
              <a:rPr lang="en-US" smtClean="0"/>
              <a:pPr>
                <a:defRPr/>
              </a:pPr>
              <a:t>1</a:t>
            </a:fld>
            <a:endParaRPr lang="en-US"/>
          </a:p>
        </p:txBody>
      </p:sp>
    </p:spTree>
    <p:extLst>
      <p:ext uri="{BB962C8B-B14F-4D97-AF65-F5344CB8AC3E}">
        <p14:creationId xmlns:p14="http://schemas.microsoft.com/office/powerpoint/2010/main" val="2154537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6" descr="New Logo Jan 2009uwsph_300dpi.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357763" y="1096963"/>
            <a:ext cx="10398125" cy="1319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71838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D7375B5-BC88-6C42-A11D-C055AA76C849}" type="datetimeFigureOut">
              <a:rPr lang="en-US"/>
              <a:pPr>
                <a:defRPr/>
              </a:pPr>
              <a:t>4/29/2026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1047BCD-416C-D74F-BBF7-295F4D67DF4F}" type="slidenum">
              <a:rPr lang="en-US"/>
              <a:pPr>
                <a:defRPr/>
              </a:pPr>
              <a:t>‹#›</a:t>
            </a:fld>
            <a:endParaRPr lang="en-US"/>
          </a:p>
        </p:txBody>
      </p:sp>
    </p:spTree>
    <p:extLst>
      <p:ext uri="{BB962C8B-B14F-4D97-AF65-F5344CB8AC3E}">
        <p14:creationId xmlns:p14="http://schemas.microsoft.com/office/powerpoint/2010/main" val="3947057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7"/>
            <a:ext cx="37307520" cy="6537960"/>
          </a:xfrm>
        </p:spPr>
        <p:txBody>
          <a:bodyPr anchor="t"/>
          <a:lstStyle>
            <a:lvl1pPr algn="l">
              <a:defRPr sz="179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000">
                <a:solidFill>
                  <a:schemeClr val="tx1">
                    <a:tint val="75000"/>
                  </a:schemeClr>
                </a:solidFill>
              </a:defRPr>
            </a:lvl1pPr>
            <a:lvl2pPr marL="2048238" indent="0">
              <a:buNone/>
              <a:defRPr sz="8000">
                <a:solidFill>
                  <a:schemeClr val="tx1">
                    <a:tint val="75000"/>
                  </a:schemeClr>
                </a:solidFill>
              </a:defRPr>
            </a:lvl2pPr>
            <a:lvl3pPr marL="4096476" indent="0">
              <a:buNone/>
              <a:defRPr sz="7200">
                <a:solidFill>
                  <a:schemeClr val="tx1">
                    <a:tint val="75000"/>
                  </a:schemeClr>
                </a:solidFill>
              </a:defRPr>
            </a:lvl3pPr>
            <a:lvl4pPr marL="6144713" indent="0">
              <a:buNone/>
              <a:defRPr sz="6200">
                <a:solidFill>
                  <a:schemeClr val="tx1">
                    <a:tint val="75000"/>
                  </a:schemeClr>
                </a:solidFill>
              </a:defRPr>
            </a:lvl4pPr>
            <a:lvl5pPr marL="8192951" indent="0">
              <a:buNone/>
              <a:defRPr sz="6200">
                <a:solidFill>
                  <a:schemeClr val="tx1">
                    <a:tint val="75000"/>
                  </a:schemeClr>
                </a:solidFill>
              </a:defRPr>
            </a:lvl5pPr>
            <a:lvl6pPr marL="10241189" indent="0">
              <a:buNone/>
              <a:defRPr sz="6200">
                <a:solidFill>
                  <a:schemeClr val="tx1">
                    <a:tint val="75000"/>
                  </a:schemeClr>
                </a:solidFill>
              </a:defRPr>
            </a:lvl6pPr>
            <a:lvl7pPr marL="12289427" indent="0">
              <a:buNone/>
              <a:defRPr sz="6200">
                <a:solidFill>
                  <a:schemeClr val="tx1">
                    <a:tint val="75000"/>
                  </a:schemeClr>
                </a:solidFill>
              </a:defRPr>
            </a:lvl7pPr>
            <a:lvl8pPr marL="14337664" indent="0">
              <a:buNone/>
              <a:defRPr sz="6200">
                <a:solidFill>
                  <a:schemeClr val="tx1">
                    <a:tint val="75000"/>
                  </a:schemeClr>
                </a:solidFill>
              </a:defRPr>
            </a:lvl8pPr>
            <a:lvl9pPr marL="16385902" indent="0">
              <a:buNone/>
              <a:defRPr sz="6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8F59DE30-2186-F24C-A84A-035878477503}" type="datetimeFigureOut">
              <a:rPr lang="en-US"/>
              <a:pPr>
                <a:defRPr/>
              </a:pPr>
              <a:t>4/29/2026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1F2F110-DF1C-3848-AFE4-BFD319FC1CF2}" type="slidenum">
              <a:rPr lang="en-US"/>
              <a:pPr>
                <a:defRPr/>
              </a:pPr>
              <a:t>‹#›</a:t>
            </a:fld>
            <a:endParaRPr lang="en-US"/>
          </a:p>
        </p:txBody>
      </p:sp>
    </p:spTree>
    <p:extLst>
      <p:ext uri="{BB962C8B-B14F-4D97-AF65-F5344CB8AC3E}">
        <p14:creationId xmlns:p14="http://schemas.microsoft.com/office/powerpoint/2010/main" val="342929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2" y="7680967"/>
            <a:ext cx="19385280" cy="21724622"/>
          </a:xfrm>
        </p:spPr>
        <p:txBody>
          <a:bodyPr/>
          <a:lstStyle>
            <a:lvl1pPr>
              <a:defRPr sz="12600"/>
            </a:lvl1pPr>
            <a:lvl2pPr>
              <a:defRPr sz="10800"/>
            </a:lvl2pPr>
            <a:lvl3pPr>
              <a:defRPr sz="90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2" y="7680967"/>
            <a:ext cx="19385280" cy="21724622"/>
          </a:xfrm>
        </p:spPr>
        <p:txBody>
          <a:bodyPr/>
          <a:lstStyle>
            <a:lvl1pPr>
              <a:defRPr sz="12600"/>
            </a:lvl1pPr>
            <a:lvl2pPr>
              <a:defRPr sz="10800"/>
            </a:lvl2pPr>
            <a:lvl3pPr>
              <a:defRPr sz="90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237E445-D6E7-A041-A44C-C7F6C59C9E1E}" type="datetimeFigureOut">
              <a:rPr lang="en-US"/>
              <a:pPr>
                <a:defRPr/>
              </a:pPr>
              <a:t>4/29/2026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65AC3D0-485F-934D-ACC3-B05A4D617110}" type="slidenum">
              <a:rPr lang="en-US"/>
              <a:pPr>
                <a:defRPr/>
              </a:pPr>
              <a:t>‹#›</a:t>
            </a:fld>
            <a:endParaRPr lang="en-US"/>
          </a:p>
        </p:txBody>
      </p:sp>
    </p:spTree>
    <p:extLst>
      <p:ext uri="{BB962C8B-B14F-4D97-AF65-F5344CB8AC3E}">
        <p14:creationId xmlns:p14="http://schemas.microsoft.com/office/powerpoint/2010/main" val="2221084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5" cy="3070858"/>
          </a:xfrm>
        </p:spPr>
        <p:txBody>
          <a:bodyPr anchor="b"/>
          <a:lstStyle>
            <a:lvl1pPr marL="0" indent="0">
              <a:buNone/>
              <a:defRPr sz="10800" b="1"/>
            </a:lvl1pPr>
            <a:lvl2pPr marL="2048238" indent="0">
              <a:buNone/>
              <a:defRPr sz="9000" b="1"/>
            </a:lvl2pPr>
            <a:lvl3pPr marL="4096476" indent="0">
              <a:buNone/>
              <a:defRPr sz="8000" b="1"/>
            </a:lvl3pPr>
            <a:lvl4pPr marL="6144713" indent="0">
              <a:buNone/>
              <a:defRPr sz="7200" b="1"/>
            </a:lvl4pPr>
            <a:lvl5pPr marL="8192951" indent="0">
              <a:buNone/>
              <a:defRPr sz="7200" b="1"/>
            </a:lvl5pPr>
            <a:lvl6pPr marL="10241189" indent="0">
              <a:buNone/>
              <a:defRPr sz="7200" b="1"/>
            </a:lvl6pPr>
            <a:lvl7pPr marL="12289427" indent="0">
              <a:buNone/>
              <a:defRPr sz="7200" b="1"/>
            </a:lvl7pPr>
            <a:lvl8pPr marL="14337664" indent="0">
              <a:buNone/>
              <a:defRPr sz="7200" b="1"/>
            </a:lvl8pPr>
            <a:lvl9pPr marL="16385902" indent="0">
              <a:buNone/>
              <a:defRPr sz="7200" b="1"/>
            </a:lvl9pPr>
          </a:lstStyle>
          <a:p>
            <a:pPr lvl="0"/>
            <a:r>
              <a:rPr lang="en-US"/>
              <a:t>Click to edit Master text styles</a:t>
            </a:r>
          </a:p>
        </p:txBody>
      </p:sp>
      <p:sp>
        <p:nvSpPr>
          <p:cNvPr id="4" name="Content Placeholder 3"/>
          <p:cNvSpPr>
            <a:spLocks noGrp="1"/>
          </p:cNvSpPr>
          <p:nvPr>
            <p:ph sz="half" idx="2"/>
          </p:nvPr>
        </p:nvSpPr>
        <p:spPr>
          <a:xfrm>
            <a:off x="2194560" y="10439400"/>
            <a:ext cx="19392905" cy="18966182"/>
          </a:xfrm>
        </p:spPr>
        <p:txBody>
          <a:bodyPr/>
          <a:lstStyle>
            <a:lvl1pPr>
              <a:defRPr sz="10800"/>
            </a:lvl1pPr>
            <a:lvl2pPr>
              <a:defRPr sz="9000"/>
            </a:lvl2pPr>
            <a:lvl3pPr>
              <a:defRPr sz="80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6" y="7368542"/>
            <a:ext cx="19400520" cy="3070858"/>
          </a:xfrm>
        </p:spPr>
        <p:txBody>
          <a:bodyPr anchor="b"/>
          <a:lstStyle>
            <a:lvl1pPr marL="0" indent="0">
              <a:buNone/>
              <a:defRPr sz="10800" b="1"/>
            </a:lvl1pPr>
            <a:lvl2pPr marL="2048238" indent="0">
              <a:buNone/>
              <a:defRPr sz="9000" b="1"/>
            </a:lvl2pPr>
            <a:lvl3pPr marL="4096476" indent="0">
              <a:buNone/>
              <a:defRPr sz="8000" b="1"/>
            </a:lvl3pPr>
            <a:lvl4pPr marL="6144713" indent="0">
              <a:buNone/>
              <a:defRPr sz="7200" b="1"/>
            </a:lvl4pPr>
            <a:lvl5pPr marL="8192951" indent="0">
              <a:buNone/>
              <a:defRPr sz="7200" b="1"/>
            </a:lvl5pPr>
            <a:lvl6pPr marL="10241189" indent="0">
              <a:buNone/>
              <a:defRPr sz="7200" b="1"/>
            </a:lvl6pPr>
            <a:lvl7pPr marL="12289427" indent="0">
              <a:buNone/>
              <a:defRPr sz="7200" b="1"/>
            </a:lvl7pPr>
            <a:lvl8pPr marL="14337664" indent="0">
              <a:buNone/>
              <a:defRPr sz="7200" b="1"/>
            </a:lvl8pPr>
            <a:lvl9pPr marL="16385902" indent="0">
              <a:buNone/>
              <a:defRPr sz="7200" b="1"/>
            </a:lvl9pPr>
          </a:lstStyle>
          <a:p>
            <a:pPr lvl="0"/>
            <a:r>
              <a:rPr lang="en-US"/>
              <a:t>Click to edit Master text styles</a:t>
            </a:r>
          </a:p>
        </p:txBody>
      </p:sp>
      <p:sp>
        <p:nvSpPr>
          <p:cNvPr id="6" name="Content Placeholder 5"/>
          <p:cNvSpPr>
            <a:spLocks noGrp="1"/>
          </p:cNvSpPr>
          <p:nvPr>
            <p:ph sz="quarter" idx="4"/>
          </p:nvPr>
        </p:nvSpPr>
        <p:spPr>
          <a:xfrm>
            <a:off x="22296126" y="10439400"/>
            <a:ext cx="19400520" cy="18966182"/>
          </a:xfrm>
        </p:spPr>
        <p:txBody>
          <a:bodyPr/>
          <a:lstStyle>
            <a:lvl1pPr>
              <a:defRPr sz="10800"/>
            </a:lvl1pPr>
            <a:lvl2pPr>
              <a:defRPr sz="9000"/>
            </a:lvl2pPr>
            <a:lvl3pPr>
              <a:defRPr sz="80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039E124B-4EEE-D941-B86E-643E4ACC578F}" type="datetimeFigureOut">
              <a:rPr lang="en-US"/>
              <a:pPr>
                <a:defRPr/>
              </a:pPr>
              <a:t>4/29/2026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54EDD68-CA6A-4248-8496-69F53EC1368E}" type="slidenum">
              <a:rPr lang="en-US"/>
              <a:pPr>
                <a:defRPr/>
              </a:pPr>
              <a:t>‹#›</a:t>
            </a:fld>
            <a:endParaRPr lang="en-US"/>
          </a:p>
        </p:txBody>
      </p:sp>
    </p:spTree>
    <p:extLst>
      <p:ext uri="{BB962C8B-B14F-4D97-AF65-F5344CB8AC3E}">
        <p14:creationId xmlns:p14="http://schemas.microsoft.com/office/powerpoint/2010/main" val="1959125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4D7A0CE9-9E80-844F-95FA-6044F954CBC6}" type="datetimeFigureOut">
              <a:rPr lang="en-US"/>
              <a:pPr>
                <a:defRPr/>
              </a:pPr>
              <a:t>4/29/2026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1438351-CA42-634C-8705-8D46091C97EA}" type="slidenum">
              <a:rPr lang="en-US"/>
              <a:pPr>
                <a:defRPr/>
              </a:pPr>
              <a:t>‹#›</a:t>
            </a:fld>
            <a:endParaRPr lang="en-US"/>
          </a:p>
        </p:txBody>
      </p:sp>
    </p:spTree>
    <p:extLst>
      <p:ext uri="{BB962C8B-B14F-4D97-AF65-F5344CB8AC3E}">
        <p14:creationId xmlns:p14="http://schemas.microsoft.com/office/powerpoint/2010/main" val="2878231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35BCEF2-3C1C-AB41-B7C4-ECC2F1C1AD4E}" type="datetimeFigureOut">
              <a:rPr lang="en-US"/>
              <a:pPr>
                <a:defRPr/>
              </a:pPr>
              <a:t>4/29/2026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3FF4C8D-C0FF-4940-B7CF-EF9BCB2D79B1}" type="slidenum">
              <a:rPr lang="en-US"/>
              <a:pPr>
                <a:defRPr/>
              </a:pPr>
              <a:t>‹#›</a:t>
            </a:fld>
            <a:endParaRPr lang="en-US"/>
          </a:p>
        </p:txBody>
      </p:sp>
    </p:spTree>
    <p:extLst>
      <p:ext uri="{BB962C8B-B14F-4D97-AF65-F5344CB8AC3E}">
        <p14:creationId xmlns:p14="http://schemas.microsoft.com/office/powerpoint/2010/main" val="1060730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4" y="1310640"/>
            <a:ext cx="14439902" cy="5577840"/>
          </a:xfrm>
        </p:spPr>
        <p:txBody>
          <a:bodyPr anchor="b"/>
          <a:lstStyle>
            <a:lvl1pPr algn="l">
              <a:defRPr sz="9000" b="1"/>
            </a:lvl1pPr>
          </a:lstStyle>
          <a:p>
            <a:r>
              <a:rPr lang="en-US"/>
              <a:t>Click to edit Master title style</a:t>
            </a:r>
          </a:p>
        </p:txBody>
      </p:sp>
      <p:sp>
        <p:nvSpPr>
          <p:cNvPr id="3" name="Content Placeholder 2"/>
          <p:cNvSpPr>
            <a:spLocks noGrp="1"/>
          </p:cNvSpPr>
          <p:nvPr>
            <p:ph idx="1"/>
          </p:nvPr>
        </p:nvSpPr>
        <p:spPr>
          <a:xfrm>
            <a:off x="17160242" y="1310647"/>
            <a:ext cx="24536401" cy="28094942"/>
          </a:xfrm>
        </p:spPr>
        <p:txBody>
          <a:bodyPr/>
          <a:lstStyle>
            <a:lvl1pPr>
              <a:defRPr sz="14300"/>
            </a:lvl1pPr>
            <a:lvl2pPr>
              <a:defRPr sz="12600"/>
            </a:lvl2pPr>
            <a:lvl3pPr>
              <a:defRPr sz="10800"/>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4" y="6888487"/>
            <a:ext cx="14439902" cy="22517102"/>
          </a:xfrm>
        </p:spPr>
        <p:txBody>
          <a:bodyPr/>
          <a:lstStyle>
            <a:lvl1pPr marL="0" indent="0">
              <a:buNone/>
              <a:defRPr sz="6200"/>
            </a:lvl1pPr>
            <a:lvl2pPr marL="2048238" indent="0">
              <a:buNone/>
              <a:defRPr sz="5400"/>
            </a:lvl2pPr>
            <a:lvl3pPr marL="4096476" indent="0">
              <a:buNone/>
              <a:defRPr sz="4400"/>
            </a:lvl3pPr>
            <a:lvl4pPr marL="6144713" indent="0">
              <a:buNone/>
              <a:defRPr sz="4100"/>
            </a:lvl4pPr>
            <a:lvl5pPr marL="8192951" indent="0">
              <a:buNone/>
              <a:defRPr sz="4100"/>
            </a:lvl5pPr>
            <a:lvl6pPr marL="10241189" indent="0">
              <a:buNone/>
              <a:defRPr sz="4100"/>
            </a:lvl6pPr>
            <a:lvl7pPr marL="12289427" indent="0">
              <a:buNone/>
              <a:defRPr sz="4100"/>
            </a:lvl7pPr>
            <a:lvl8pPr marL="14337664" indent="0">
              <a:buNone/>
              <a:defRPr sz="4100"/>
            </a:lvl8pPr>
            <a:lvl9pPr marL="16385902" indent="0">
              <a:buNone/>
              <a:defRPr sz="41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A1C8770-6960-8E4D-8CFB-3F15E4C61679}" type="datetimeFigureOut">
              <a:rPr lang="en-US"/>
              <a:pPr>
                <a:defRPr/>
              </a:pPr>
              <a:t>4/29/2026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71938D3-C344-E042-A417-E8EB1CB0E336}" type="slidenum">
              <a:rPr lang="en-US"/>
              <a:pPr>
                <a:defRPr/>
              </a:pPr>
              <a:t>‹#›</a:t>
            </a:fld>
            <a:endParaRPr lang="en-US"/>
          </a:p>
        </p:txBody>
      </p:sp>
    </p:spTree>
    <p:extLst>
      <p:ext uri="{BB962C8B-B14F-4D97-AF65-F5344CB8AC3E}">
        <p14:creationId xmlns:p14="http://schemas.microsoft.com/office/powerpoint/2010/main" val="1199429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0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rtlCol="0">
            <a:normAutofit/>
          </a:bodyPr>
          <a:lstStyle>
            <a:lvl1pPr marL="0" indent="0">
              <a:buNone/>
              <a:defRPr sz="14300"/>
            </a:lvl1pPr>
            <a:lvl2pPr marL="2048238" indent="0">
              <a:buNone/>
              <a:defRPr sz="12600"/>
            </a:lvl2pPr>
            <a:lvl3pPr marL="4096476" indent="0">
              <a:buNone/>
              <a:defRPr sz="10800"/>
            </a:lvl3pPr>
            <a:lvl4pPr marL="6144713" indent="0">
              <a:buNone/>
              <a:defRPr sz="9000"/>
            </a:lvl4pPr>
            <a:lvl5pPr marL="8192951" indent="0">
              <a:buNone/>
              <a:defRPr sz="9000"/>
            </a:lvl5pPr>
            <a:lvl6pPr marL="10241189" indent="0">
              <a:buNone/>
              <a:defRPr sz="9000"/>
            </a:lvl6pPr>
            <a:lvl7pPr marL="12289427" indent="0">
              <a:buNone/>
              <a:defRPr sz="9000"/>
            </a:lvl7pPr>
            <a:lvl8pPr marL="14337664" indent="0">
              <a:buNone/>
              <a:defRPr sz="9000"/>
            </a:lvl8pPr>
            <a:lvl9pPr marL="16385902" indent="0">
              <a:buNone/>
              <a:defRPr sz="9000"/>
            </a:lvl9pPr>
          </a:lstStyle>
          <a:p>
            <a:pPr lvl="0"/>
            <a:endParaRPr lang="en-US" noProof="0"/>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200"/>
            </a:lvl1pPr>
            <a:lvl2pPr marL="2048238" indent="0">
              <a:buNone/>
              <a:defRPr sz="5400"/>
            </a:lvl2pPr>
            <a:lvl3pPr marL="4096476" indent="0">
              <a:buNone/>
              <a:defRPr sz="4400"/>
            </a:lvl3pPr>
            <a:lvl4pPr marL="6144713" indent="0">
              <a:buNone/>
              <a:defRPr sz="4100"/>
            </a:lvl4pPr>
            <a:lvl5pPr marL="8192951" indent="0">
              <a:buNone/>
              <a:defRPr sz="4100"/>
            </a:lvl5pPr>
            <a:lvl6pPr marL="10241189" indent="0">
              <a:buNone/>
              <a:defRPr sz="4100"/>
            </a:lvl6pPr>
            <a:lvl7pPr marL="12289427" indent="0">
              <a:buNone/>
              <a:defRPr sz="4100"/>
            </a:lvl7pPr>
            <a:lvl8pPr marL="14337664" indent="0">
              <a:buNone/>
              <a:defRPr sz="4100"/>
            </a:lvl8pPr>
            <a:lvl9pPr marL="16385902" indent="0">
              <a:buNone/>
              <a:defRPr sz="41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9579FE6-B68A-4344-943D-731CD5F15640}" type="datetimeFigureOut">
              <a:rPr lang="en-US"/>
              <a:pPr>
                <a:defRPr/>
              </a:pPr>
              <a:t>4/29/2026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BC48603-81E4-BD49-AC9C-BB3BB99767AC}" type="slidenum">
              <a:rPr lang="en-US"/>
              <a:pPr>
                <a:defRPr/>
              </a:pPr>
              <a:t>‹#›</a:t>
            </a:fld>
            <a:endParaRPr lang="en-US"/>
          </a:p>
        </p:txBody>
      </p:sp>
    </p:spTree>
    <p:extLst>
      <p:ext uri="{BB962C8B-B14F-4D97-AF65-F5344CB8AC3E}">
        <p14:creationId xmlns:p14="http://schemas.microsoft.com/office/powerpoint/2010/main" val="2821748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10E64A0-E6E9-F145-A637-A7738BE07B0F}" type="datetimeFigureOut">
              <a:rPr lang="en-US"/>
              <a:pPr>
                <a:defRPr/>
              </a:pPr>
              <a:t>4/29/2026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6E62CB-4440-AE43-9895-BD8EA8918CEA}" type="slidenum">
              <a:rPr lang="en-US"/>
              <a:pPr>
                <a:defRPr/>
              </a:pPr>
              <a:t>‹#›</a:t>
            </a:fld>
            <a:endParaRPr lang="en-US"/>
          </a:p>
        </p:txBody>
      </p:sp>
    </p:spTree>
    <p:extLst>
      <p:ext uri="{BB962C8B-B14F-4D97-AF65-F5344CB8AC3E}">
        <p14:creationId xmlns:p14="http://schemas.microsoft.com/office/powerpoint/2010/main" val="1063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2" y="1318270"/>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2" y="1318270"/>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CE05E1D-ED71-C344-9434-72C7E8700564}" type="datetimeFigureOut">
              <a:rPr lang="en-US"/>
              <a:pPr>
                <a:defRPr/>
              </a:pPr>
              <a:t>4/29/2026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AE23CB-860E-7C4E-AD2D-C8001B977233}" type="slidenum">
              <a:rPr lang="en-US"/>
              <a:pPr>
                <a:defRPr/>
              </a:pPr>
              <a:t>‹#›</a:t>
            </a:fld>
            <a:endParaRPr lang="en-US"/>
          </a:p>
        </p:txBody>
      </p:sp>
    </p:spTree>
    <p:extLst>
      <p:ext uri="{BB962C8B-B14F-4D97-AF65-F5344CB8AC3E}">
        <p14:creationId xmlns:p14="http://schemas.microsoft.com/office/powerpoint/2010/main" val="34864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09648" tIns="204823" rIns="409648" bIns="204823"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193925" y="7680325"/>
            <a:ext cx="39503350" cy="21724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09648" tIns="204823" rIns="409648" bIns="20482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3925" y="30510163"/>
            <a:ext cx="10242550" cy="1752600"/>
          </a:xfrm>
          <a:prstGeom prst="rect">
            <a:avLst/>
          </a:prstGeom>
        </p:spPr>
        <p:txBody>
          <a:bodyPr vert="horz" wrap="square" lIns="409648" tIns="204823" rIns="409648" bIns="204823" numCol="1" anchor="ctr" anchorCtr="0" compatLnSpc="1">
            <a:prstTxWarp prst="textNoShape">
              <a:avLst/>
            </a:prstTxWarp>
          </a:bodyPr>
          <a:lstStyle>
            <a:lvl1pPr>
              <a:defRPr sz="5400" smtClean="0">
                <a:solidFill>
                  <a:srgbClr val="898989"/>
                </a:solidFill>
                <a:latin typeface="Calibri" charset="0"/>
                <a:cs typeface="Arial" charset="0"/>
              </a:defRPr>
            </a:lvl1pPr>
          </a:lstStyle>
          <a:p>
            <a:pPr>
              <a:defRPr/>
            </a:pPr>
            <a:fld id="{ACC808E3-F7C5-EE48-B161-55C67F2CDE34}" type="datetimeFigureOut">
              <a:rPr lang="en-US"/>
              <a:pPr>
                <a:defRPr/>
              </a:pPr>
              <a:t>4/29/2026</a:t>
            </a:fld>
            <a:endParaRPr lang="en-US"/>
          </a:p>
        </p:txBody>
      </p:sp>
      <p:sp>
        <p:nvSpPr>
          <p:cNvPr id="5" name="Footer Placeholder 4"/>
          <p:cNvSpPr>
            <a:spLocks noGrp="1"/>
          </p:cNvSpPr>
          <p:nvPr>
            <p:ph type="ftr" sz="quarter" idx="3"/>
          </p:nvPr>
        </p:nvSpPr>
        <p:spPr>
          <a:xfrm>
            <a:off x="14995525" y="30510163"/>
            <a:ext cx="13900150" cy="1752600"/>
          </a:xfrm>
          <a:prstGeom prst="rect">
            <a:avLst/>
          </a:prstGeom>
        </p:spPr>
        <p:txBody>
          <a:bodyPr vert="horz" lIns="409648" tIns="204823" rIns="409648" bIns="204823" rtlCol="0" anchor="ctr"/>
          <a:lstStyle>
            <a:lvl1pPr algn="ctr" fontAlgn="auto">
              <a:spcBef>
                <a:spcPts val="0"/>
              </a:spcBef>
              <a:spcAft>
                <a:spcPts val="0"/>
              </a:spcAft>
              <a:defRPr sz="5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31454725" y="30510163"/>
            <a:ext cx="10242550" cy="1752600"/>
          </a:xfrm>
          <a:prstGeom prst="rect">
            <a:avLst/>
          </a:prstGeom>
        </p:spPr>
        <p:txBody>
          <a:bodyPr vert="horz" wrap="square" lIns="409648" tIns="204823" rIns="409648" bIns="204823" numCol="1" anchor="ctr" anchorCtr="0" compatLnSpc="1">
            <a:prstTxWarp prst="textNoShape">
              <a:avLst/>
            </a:prstTxWarp>
          </a:bodyPr>
          <a:lstStyle>
            <a:lvl1pPr algn="r">
              <a:defRPr sz="5400" smtClean="0">
                <a:solidFill>
                  <a:srgbClr val="898989"/>
                </a:solidFill>
                <a:latin typeface="Calibri" charset="0"/>
                <a:cs typeface="Arial" charset="0"/>
              </a:defRPr>
            </a:lvl1pPr>
          </a:lstStyle>
          <a:p>
            <a:pPr>
              <a:defRPr/>
            </a:pPr>
            <a:fld id="{C1644C03-B183-D249-A3CA-8A1573FCD26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rtl="0" eaLnBrk="0" fontAlgn="base" hangingPunct="0">
        <a:spcBef>
          <a:spcPct val="0"/>
        </a:spcBef>
        <a:spcAft>
          <a:spcPct val="0"/>
        </a:spcAft>
        <a:defRPr sz="197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197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197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197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19700">
          <a:solidFill>
            <a:schemeClr val="tx1"/>
          </a:solidFill>
          <a:latin typeface="Calibri" pitchFamily="34" charset="0"/>
          <a:ea typeface="ＭＳ Ｐゴシック" charset="0"/>
          <a:cs typeface="ＭＳ Ｐゴシック" charset="0"/>
        </a:defRPr>
      </a:lvl5pPr>
      <a:lvl6pPr marL="2048238" algn="ctr" rtl="0" fontAlgn="base">
        <a:spcBef>
          <a:spcPct val="0"/>
        </a:spcBef>
        <a:spcAft>
          <a:spcPct val="0"/>
        </a:spcAft>
        <a:defRPr sz="19700">
          <a:solidFill>
            <a:schemeClr val="tx1"/>
          </a:solidFill>
          <a:latin typeface="Calibri" pitchFamily="34" charset="0"/>
        </a:defRPr>
      </a:lvl6pPr>
      <a:lvl7pPr marL="4096476" algn="ctr" rtl="0" fontAlgn="base">
        <a:spcBef>
          <a:spcPct val="0"/>
        </a:spcBef>
        <a:spcAft>
          <a:spcPct val="0"/>
        </a:spcAft>
        <a:defRPr sz="19700">
          <a:solidFill>
            <a:schemeClr val="tx1"/>
          </a:solidFill>
          <a:latin typeface="Calibri" pitchFamily="34" charset="0"/>
        </a:defRPr>
      </a:lvl7pPr>
      <a:lvl8pPr marL="6144713" algn="ctr" rtl="0" fontAlgn="base">
        <a:spcBef>
          <a:spcPct val="0"/>
        </a:spcBef>
        <a:spcAft>
          <a:spcPct val="0"/>
        </a:spcAft>
        <a:defRPr sz="19700">
          <a:solidFill>
            <a:schemeClr val="tx1"/>
          </a:solidFill>
          <a:latin typeface="Calibri" pitchFamily="34" charset="0"/>
        </a:defRPr>
      </a:lvl8pPr>
      <a:lvl9pPr marL="8192951" algn="ctr" rtl="0" fontAlgn="base">
        <a:spcBef>
          <a:spcPct val="0"/>
        </a:spcBef>
        <a:spcAft>
          <a:spcPct val="0"/>
        </a:spcAft>
        <a:defRPr sz="19700">
          <a:solidFill>
            <a:schemeClr val="tx1"/>
          </a:solidFill>
          <a:latin typeface="Calibri" pitchFamily="34" charset="0"/>
        </a:defRPr>
      </a:lvl9pPr>
    </p:titleStyle>
    <p:bodyStyle>
      <a:lvl1pPr marL="1535113" indent="-1535113" algn="l" rtl="0" eaLnBrk="0" fontAlgn="base" hangingPunct="0">
        <a:spcBef>
          <a:spcPct val="20000"/>
        </a:spcBef>
        <a:spcAft>
          <a:spcPct val="0"/>
        </a:spcAft>
        <a:buFont typeface="Arial" charset="0"/>
        <a:buChar char="•"/>
        <a:defRPr sz="14300" kern="1200">
          <a:solidFill>
            <a:schemeClr val="tx1"/>
          </a:solidFill>
          <a:latin typeface="+mn-lt"/>
          <a:ea typeface="ＭＳ Ｐゴシック" charset="0"/>
          <a:cs typeface="ＭＳ Ｐゴシック" charset="0"/>
        </a:defRPr>
      </a:lvl1pPr>
      <a:lvl2pPr marL="3327400" indent="-1277938" algn="l" rtl="0" eaLnBrk="0" fontAlgn="base" hangingPunct="0">
        <a:spcBef>
          <a:spcPct val="20000"/>
        </a:spcBef>
        <a:spcAft>
          <a:spcPct val="0"/>
        </a:spcAft>
        <a:buFont typeface="Arial" charset="0"/>
        <a:buChar char="–"/>
        <a:defRPr sz="12600" kern="1200">
          <a:solidFill>
            <a:schemeClr val="tx1"/>
          </a:solidFill>
          <a:latin typeface="+mn-lt"/>
          <a:ea typeface="ＭＳ Ｐゴシック" charset="0"/>
          <a:cs typeface="+mn-cs"/>
        </a:defRPr>
      </a:lvl2pPr>
      <a:lvl3pPr marL="5118100" indent="-1022350" algn="l" rtl="0" eaLnBrk="0" fontAlgn="base" hangingPunct="0">
        <a:spcBef>
          <a:spcPct val="20000"/>
        </a:spcBef>
        <a:spcAft>
          <a:spcPct val="0"/>
        </a:spcAft>
        <a:buFont typeface="Arial" charset="0"/>
        <a:buChar char="•"/>
        <a:defRPr sz="10800" kern="1200">
          <a:solidFill>
            <a:schemeClr val="tx1"/>
          </a:solidFill>
          <a:latin typeface="+mn-lt"/>
          <a:ea typeface="ＭＳ Ｐゴシック" charset="0"/>
          <a:cs typeface="+mn-cs"/>
        </a:defRPr>
      </a:lvl3pPr>
      <a:lvl4pPr marL="7167563" indent="-1022350" algn="l" rtl="0" eaLnBrk="0" fontAlgn="base" hangingPunct="0">
        <a:spcBef>
          <a:spcPct val="20000"/>
        </a:spcBef>
        <a:spcAft>
          <a:spcPct val="0"/>
        </a:spcAft>
        <a:buFont typeface="Arial" charset="0"/>
        <a:buChar char="–"/>
        <a:defRPr sz="9000" kern="1200">
          <a:solidFill>
            <a:schemeClr val="tx1"/>
          </a:solidFill>
          <a:latin typeface="+mn-lt"/>
          <a:ea typeface="ＭＳ Ｐゴシック" charset="0"/>
          <a:cs typeface="+mn-cs"/>
        </a:defRPr>
      </a:lvl4pPr>
      <a:lvl5pPr marL="9215438" indent="-1022350" algn="l" rtl="0" eaLnBrk="0" fontAlgn="base" hangingPunct="0">
        <a:spcBef>
          <a:spcPct val="20000"/>
        </a:spcBef>
        <a:spcAft>
          <a:spcPct val="0"/>
        </a:spcAft>
        <a:buFont typeface="Arial" charset="0"/>
        <a:buChar char="»"/>
        <a:defRPr sz="9000" kern="1200">
          <a:solidFill>
            <a:schemeClr val="tx1"/>
          </a:solidFill>
          <a:latin typeface="+mn-lt"/>
          <a:ea typeface="ＭＳ Ｐゴシック" charset="0"/>
          <a:cs typeface="+mn-cs"/>
        </a:defRPr>
      </a:lvl5pPr>
      <a:lvl6pPr marL="11265307" indent="-1024118" algn="l" defTabSz="4096476"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313545" indent="-1024118" algn="l" defTabSz="4096476"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361783" indent="-1024118" algn="l" defTabSz="4096476"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410020" indent="-1024118" algn="l" defTabSz="4096476"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en-US"/>
      </a:defPPr>
      <a:lvl1pPr marL="0" algn="l" defTabSz="4096476" rtl="0" eaLnBrk="1" latinLnBrk="0" hangingPunct="1">
        <a:defRPr sz="8000" kern="1200">
          <a:solidFill>
            <a:schemeClr val="tx1"/>
          </a:solidFill>
          <a:latin typeface="+mn-lt"/>
          <a:ea typeface="+mn-ea"/>
          <a:cs typeface="+mn-cs"/>
        </a:defRPr>
      </a:lvl1pPr>
      <a:lvl2pPr marL="2048238" algn="l" defTabSz="4096476" rtl="0" eaLnBrk="1" latinLnBrk="0" hangingPunct="1">
        <a:defRPr sz="8000" kern="1200">
          <a:solidFill>
            <a:schemeClr val="tx1"/>
          </a:solidFill>
          <a:latin typeface="+mn-lt"/>
          <a:ea typeface="+mn-ea"/>
          <a:cs typeface="+mn-cs"/>
        </a:defRPr>
      </a:lvl2pPr>
      <a:lvl3pPr marL="4096476" algn="l" defTabSz="4096476" rtl="0" eaLnBrk="1" latinLnBrk="0" hangingPunct="1">
        <a:defRPr sz="8000" kern="1200">
          <a:solidFill>
            <a:schemeClr val="tx1"/>
          </a:solidFill>
          <a:latin typeface="+mn-lt"/>
          <a:ea typeface="+mn-ea"/>
          <a:cs typeface="+mn-cs"/>
        </a:defRPr>
      </a:lvl3pPr>
      <a:lvl4pPr marL="6144713" algn="l" defTabSz="4096476" rtl="0" eaLnBrk="1" latinLnBrk="0" hangingPunct="1">
        <a:defRPr sz="8000" kern="1200">
          <a:solidFill>
            <a:schemeClr val="tx1"/>
          </a:solidFill>
          <a:latin typeface="+mn-lt"/>
          <a:ea typeface="+mn-ea"/>
          <a:cs typeface="+mn-cs"/>
        </a:defRPr>
      </a:lvl4pPr>
      <a:lvl5pPr marL="8192951" algn="l" defTabSz="4096476" rtl="0" eaLnBrk="1" latinLnBrk="0" hangingPunct="1">
        <a:defRPr sz="8000" kern="1200">
          <a:solidFill>
            <a:schemeClr val="tx1"/>
          </a:solidFill>
          <a:latin typeface="+mn-lt"/>
          <a:ea typeface="+mn-ea"/>
          <a:cs typeface="+mn-cs"/>
        </a:defRPr>
      </a:lvl5pPr>
      <a:lvl6pPr marL="10241189" algn="l" defTabSz="4096476" rtl="0" eaLnBrk="1" latinLnBrk="0" hangingPunct="1">
        <a:defRPr sz="8000" kern="1200">
          <a:solidFill>
            <a:schemeClr val="tx1"/>
          </a:solidFill>
          <a:latin typeface="+mn-lt"/>
          <a:ea typeface="+mn-ea"/>
          <a:cs typeface="+mn-cs"/>
        </a:defRPr>
      </a:lvl6pPr>
      <a:lvl7pPr marL="12289427" algn="l" defTabSz="4096476" rtl="0" eaLnBrk="1" latinLnBrk="0" hangingPunct="1">
        <a:defRPr sz="8000" kern="1200">
          <a:solidFill>
            <a:schemeClr val="tx1"/>
          </a:solidFill>
          <a:latin typeface="+mn-lt"/>
          <a:ea typeface="+mn-ea"/>
          <a:cs typeface="+mn-cs"/>
        </a:defRPr>
      </a:lvl7pPr>
      <a:lvl8pPr marL="14337664" algn="l" defTabSz="4096476" rtl="0" eaLnBrk="1" latinLnBrk="0" hangingPunct="1">
        <a:defRPr sz="8000" kern="1200">
          <a:solidFill>
            <a:schemeClr val="tx1"/>
          </a:solidFill>
          <a:latin typeface="+mn-lt"/>
          <a:ea typeface="+mn-ea"/>
          <a:cs typeface="+mn-cs"/>
        </a:defRPr>
      </a:lvl8pPr>
      <a:lvl9pPr marL="16385902" algn="l" defTabSz="4096476" rtl="0" eaLnBrk="1" latinLnBrk="0" hangingPunct="1">
        <a:defRPr sz="8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nvlpubs.nist.gov/nistpubs/SpecialPublications/NIST.SP.800-207.pdf" TargetMode="External"/><Relationship Id="rId3" Type="http://schemas.openxmlformats.org/officeDocument/2006/relationships/hyperlink" Target="http://InfoSec.nova.edu/" TargetMode="External"/><Relationship Id="rId7" Type="http://schemas.openxmlformats.org/officeDocument/2006/relationships/hyperlink" Target="https://www.ibm.com/reports/data-breach"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doi.org/10.1145/3603166.3632553" TargetMode="External"/><Relationship Id="rId11" Type="http://schemas.openxmlformats.org/officeDocument/2006/relationships/hyperlink" Target="https://doi.org/10.1145/3286606.3286865" TargetMode="External"/><Relationship Id="rId5" Type="http://schemas.openxmlformats.org/officeDocument/2006/relationships/image" Target="../media/image3.png"/><Relationship Id="rId10" Type="http://schemas.openxmlformats.org/officeDocument/2006/relationships/hyperlink" Target="https://doi.org/10.1145/3139367.3139401" TargetMode="External"/><Relationship Id="rId4" Type="http://schemas.openxmlformats.org/officeDocument/2006/relationships/image" Target="../media/image2.png"/><Relationship Id="rId9" Type="http://schemas.openxmlformats.org/officeDocument/2006/relationships/hyperlink" Target="https://www.nist.gov/cyber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2"/>
          <p:cNvSpPr>
            <a:spLocks noChangeArrowheads="1"/>
          </p:cNvSpPr>
          <p:nvPr/>
        </p:nvSpPr>
        <p:spPr bwMode="auto">
          <a:xfrm>
            <a:off x="0" y="-483822"/>
            <a:ext cx="827362" cy="9676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409648" tIns="204823" rIns="409648" bIns="204823" anchor="ctr">
            <a:spAutoFit/>
          </a:bodyPr>
          <a:lstStyle/>
          <a:p>
            <a:pPr defTabSz="4095750" eaLnBrk="0" hangingPunct="0"/>
            <a:br>
              <a:rPr lang="en-US">
                <a:latin typeface="Arial" panose="020B0604020202020204" pitchFamily="34" charset="0"/>
                <a:cs typeface="Arial" panose="020B0604020202020204" pitchFamily="34" charset="0"/>
              </a:rPr>
            </a:br>
            <a:endParaRPr lang="en-US">
              <a:latin typeface="Arial" panose="020B0604020202020204" pitchFamily="34" charset="0"/>
              <a:cs typeface="Arial" panose="020B0604020202020204" pitchFamily="34" charset="0"/>
            </a:endParaRPr>
          </a:p>
        </p:txBody>
      </p:sp>
      <p:sp>
        <p:nvSpPr>
          <p:cNvPr id="14338" name="TextBox 71"/>
          <p:cNvSpPr txBox="1">
            <a:spLocks noChangeArrowheads="1"/>
          </p:cNvSpPr>
          <p:nvPr/>
        </p:nvSpPr>
        <p:spPr bwMode="auto">
          <a:xfrm>
            <a:off x="-152400" y="575289"/>
            <a:ext cx="43891200" cy="13419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09728" tIns="54864" rIns="109728" bIns="54864">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4000" b="1" spc="-300" dirty="0">
                <a:latin typeface="Arial" panose="020B0604020202020204" pitchFamily="34" charset="0"/>
                <a:cs typeface="Arial" panose="020B0604020202020204" pitchFamily="34" charset="0"/>
              </a:rPr>
              <a:t>Developing  a Zero Trust  focused Cybersecurity Policies and Compliance Plan for a Small Cloud-Based Accounting Firm : </a:t>
            </a:r>
            <a:r>
              <a:rPr lang="en-US" sz="4000" b="1" spc="-300" dirty="0" err="1">
                <a:latin typeface="Arial" panose="020B0604020202020204" pitchFamily="34" charset="0"/>
                <a:cs typeface="Arial" panose="020B0604020202020204" pitchFamily="34" charset="0"/>
              </a:rPr>
              <a:t>FintSecure</a:t>
            </a:r>
            <a:r>
              <a:rPr lang="en-US" sz="4000" b="1" spc="-300" dirty="0">
                <a:latin typeface="Arial" panose="020B0604020202020204" pitchFamily="34" charset="0"/>
                <a:cs typeface="Arial" panose="020B0604020202020204" pitchFamily="34" charset="0"/>
              </a:rPr>
              <a:t> Accounting Services</a:t>
            </a:r>
          </a:p>
          <a:p>
            <a:pPr algn="ctr" eaLnBrk="1" hangingPunct="1"/>
            <a:r>
              <a:rPr lang="en-US" sz="4000" spc="-300" dirty="0">
                <a:latin typeface="Arial" panose="020B0604020202020204" pitchFamily="34" charset="0"/>
                <a:cs typeface="Arial" panose="020B0604020202020204" pitchFamily="34" charset="0"/>
              </a:rPr>
              <a:t>Team/Students: Ademola Daniel Aderibigbe &amp; Tarun Margam | Business Advisor: Michael Carter | Dr. Yair Levy, Professor of Information Systems and Cybersecurity</a:t>
            </a:r>
          </a:p>
        </p:txBody>
      </p:sp>
      <p:sp>
        <p:nvSpPr>
          <p:cNvPr id="14339" name="TextBox 1"/>
          <p:cNvSpPr txBox="1">
            <a:spLocks noChangeArrowheads="1"/>
          </p:cNvSpPr>
          <p:nvPr/>
        </p:nvSpPr>
        <p:spPr bwMode="auto">
          <a:xfrm>
            <a:off x="176959" y="2389765"/>
            <a:ext cx="14724300" cy="4819781"/>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tyle>
          <a:lnRef idx="1">
            <a:schemeClr val="dk1"/>
          </a:lnRef>
          <a:fillRef idx="2">
            <a:schemeClr val="dk1"/>
          </a:fillRef>
          <a:effectRef idx="1">
            <a:schemeClr val="dk1"/>
          </a:effectRef>
          <a:fontRef idx="minor">
            <a:schemeClr val="dk1"/>
          </a:fontRef>
        </p:style>
        <p:txBody>
          <a:bodyPr wrap="square" lIns="109728" tIns="54864" rIns="109728" bIns="54864" numCol="1">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1800" b="1" dirty="0">
                <a:solidFill>
                  <a:srgbClr val="0E3E89"/>
                </a:solidFill>
                <a:latin typeface="Arial" panose="020B0604020202020204" pitchFamily="34" charset="0"/>
                <a:cs typeface="Arial" panose="020B0604020202020204" pitchFamily="34" charset="0"/>
              </a:rPr>
              <a:t>Introduction</a:t>
            </a:r>
          </a:p>
          <a:p>
            <a:pPr algn="just"/>
            <a:r>
              <a:rPr lang="en-US" sz="1800" dirty="0">
                <a:latin typeface="Arial" panose="020B0604020202020204" pitchFamily="34" charset="0"/>
                <a:cs typeface="Arial" panose="020B0604020202020204" pitchFamily="34" charset="0"/>
              </a:rPr>
              <a:t>The adoption of cloud computing within the financial services sector has transformed how organizations manage and process sensitive financial data, particularly among small accounting firms that rely on cloud-based infrastructures for operational efficiency and scalability (NIST, 2024; IBM, 2025). As organizations increasingly migrate to cloud environments, they face heightened exposure to cybersecurity threats such as identity compromise, unauthorized access, insider threats, and cloud misconfigurations, which are exacerbated by the multi-tenant and dynamic nature of cloud systems (Ziani &amp; Medouri, 2018). Industry research indicated that data breaches continue to result in substantial financial and reputational impacts globally, highlighting the growing importance of effective cybersecurity governance (IBM, 2025). Zero Trust Architecture (ZTA) has emerged as a modern cybersecurity paradigm that eliminates implicit trust and requires continuous verification of users, devices, and access requests regardless of network location (NIST, 2020). Its core principles, including least privilege access, strong Identity and Access Management (IAM), and continuous monitoring, are critical for mitigating risks associated with cloud-based environments. Furthermore, the National Institute of Standards and Technology Cybersecurity Framework (NIST CSF 2.0) (2024) provides structured guidance for organizations to manage cybersecurity risks through governance, cyber risk management, and continuous improvement processes. Research indicated that weaknesses in identity management, human behavior, and organizational cybersecurity practices contribute significantly to cybersecurity incidents, reinforcing the need for integrated, policy-driven, and compliance plan-focused approaches (NIST, 2020; 2024).This proposed project focuses on the development of Zero Trust focused Information Security Policies and a compliance plan by designing a Zero Trust cybersecurity policies tailored for a small cloud-based accounting firm. This project aims to develop structured policies aligned with Zero Trust principles and supported by a continuous compliance plan that enhances governance, monitoring, and enforcement.</a:t>
            </a:r>
          </a:p>
        </p:txBody>
      </p:sp>
      <p:sp>
        <p:nvSpPr>
          <p:cNvPr id="14341" name="Rectangle 2"/>
          <p:cNvSpPr>
            <a:spLocks noChangeArrowheads="1"/>
          </p:cNvSpPr>
          <p:nvPr/>
        </p:nvSpPr>
        <p:spPr bwMode="auto">
          <a:xfrm>
            <a:off x="14556869" y="30736163"/>
            <a:ext cx="1601432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US" sz="4000" dirty="0">
                <a:latin typeface="Arial" panose="020B0604020202020204" pitchFamily="34" charset="0"/>
                <a:cs typeface="Arial" panose="020B0604020202020204" pitchFamily="34" charset="0"/>
              </a:rPr>
              <a:t>Center for Information Protection, Education, and Research (</a:t>
            </a:r>
            <a:r>
              <a:rPr lang="en-US" sz="4000" dirty="0" err="1">
                <a:latin typeface="Arial" panose="020B0604020202020204" pitchFamily="34" charset="0"/>
                <a:cs typeface="Arial" panose="020B0604020202020204" pitchFamily="34" charset="0"/>
              </a:rPr>
              <a:t>CIPhER</a:t>
            </a:r>
            <a:r>
              <a:rPr lang="en-US" sz="4000" dirty="0">
                <a:latin typeface="Arial" panose="020B0604020202020204" pitchFamily="34" charset="0"/>
                <a:cs typeface="Arial" panose="020B0604020202020204" pitchFamily="34" charset="0"/>
              </a:rPr>
              <a:t>)</a:t>
            </a:r>
            <a:br>
              <a:rPr lang="en-US" sz="4000" dirty="0">
                <a:latin typeface="Arial" panose="020B0604020202020204" pitchFamily="34" charset="0"/>
                <a:cs typeface="Arial" panose="020B0604020202020204" pitchFamily="34" charset="0"/>
              </a:rPr>
            </a:br>
            <a:r>
              <a:rPr lang="en-US" sz="4000" dirty="0">
                <a:latin typeface="Arial" panose="020B0604020202020204" pitchFamily="34" charset="0"/>
                <a:cs typeface="Arial" panose="020B0604020202020204" pitchFamily="34" charset="0"/>
                <a:hlinkClick r:id="rId3"/>
              </a:rPr>
              <a:t>http://InfoSec.nova.edu/</a:t>
            </a:r>
            <a:r>
              <a:rPr lang="en-US" sz="4000" dirty="0">
                <a:latin typeface="Arial" panose="020B0604020202020204" pitchFamily="34" charset="0"/>
                <a:cs typeface="Arial" panose="020B0604020202020204" pitchFamily="34" charset="0"/>
              </a:rPr>
              <a:t> </a:t>
            </a:r>
          </a:p>
        </p:txBody>
      </p:sp>
      <p:sp>
        <p:nvSpPr>
          <p:cNvPr id="14342" name="Rectangle 7"/>
          <p:cNvSpPr>
            <a:spLocks noChangeArrowheads="1"/>
          </p:cNvSpPr>
          <p:nvPr/>
        </p:nvSpPr>
        <p:spPr bwMode="auto">
          <a:xfrm>
            <a:off x="31673407" y="30736163"/>
            <a:ext cx="1206539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r"/>
            <a:r>
              <a:rPr lang="en-US" sz="3600" b="1" dirty="0">
                <a:solidFill>
                  <a:srgbClr val="0E3E89"/>
                </a:solidFill>
                <a:latin typeface="Arial" panose="020B0604020202020204" pitchFamily="34" charset="0"/>
                <a:cs typeface="Arial" panose="020B0604020202020204" pitchFamily="34" charset="0"/>
              </a:rPr>
              <a:t>College of Computing, AI, and Cybersecurity (CCAC)</a:t>
            </a:r>
          </a:p>
        </p:txBody>
      </p:sp>
      <p:pic>
        <p:nvPicPr>
          <p:cNvPr id="14343"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30187900"/>
            <a:ext cx="16256000" cy="21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4"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078200" y="30187900"/>
            <a:ext cx="16256000" cy="21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5" name="Picture 1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660600" y="30187900"/>
            <a:ext cx="16256000" cy="21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4" name="Straight Connector 3"/>
          <p:cNvCxnSpPr>
            <a:cxnSpLocks/>
          </p:cNvCxnSpPr>
          <p:nvPr/>
        </p:nvCxnSpPr>
        <p:spPr>
          <a:xfrm>
            <a:off x="247821" y="1917195"/>
            <a:ext cx="43477656" cy="0"/>
          </a:xfrm>
          <a:prstGeom prst="line">
            <a:avLst/>
          </a:prstGeom>
          <a:ln/>
        </p:spPr>
        <p:style>
          <a:lnRef idx="3">
            <a:schemeClr val="accent1"/>
          </a:lnRef>
          <a:fillRef idx="0">
            <a:schemeClr val="accent1"/>
          </a:fillRef>
          <a:effectRef idx="2">
            <a:schemeClr val="accent1"/>
          </a:effectRef>
          <a:fontRef idx="minor">
            <a:schemeClr val="tx1"/>
          </a:fontRef>
        </p:style>
      </p:cxnSp>
      <p:sp>
        <p:nvSpPr>
          <p:cNvPr id="2" name="Rectangle 1"/>
          <p:cNvSpPr/>
          <p:nvPr/>
        </p:nvSpPr>
        <p:spPr>
          <a:xfrm>
            <a:off x="38557200" y="101600"/>
            <a:ext cx="5308600" cy="523220"/>
          </a:xfrm>
          <a:prstGeom prst="rect">
            <a:avLst/>
          </a:prstGeom>
        </p:spPr>
        <p:txBody>
          <a:bodyPr wrap="square">
            <a:spAutoFit/>
          </a:bodyPr>
          <a:lstStyle/>
          <a:p>
            <a:pPr algn="ctr"/>
            <a:r>
              <a:rPr lang="en-US" sz="2800" dirty="0">
                <a:latin typeface="Arial" panose="020B0604020202020204" pitchFamily="34" charset="0"/>
                <a:cs typeface="Arial" panose="020B0604020202020204" pitchFamily="34" charset="0"/>
              </a:rPr>
              <a:t>Winter, 2026</a:t>
            </a:r>
          </a:p>
        </p:txBody>
      </p:sp>
      <p:pic>
        <p:nvPicPr>
          <p:cNvPr id="5" name="Picture 4">
            <a:extLst>
              <a:ext uri="{FF2B5EF4-FFF2-40B4-BE49-F238E27FC236}">
                <a16:creationId xmlns:a16="http://schemas.microsoft.com/office/drawing/2014/main" id="{5043488D-C93E-2DB5-D4EF-3B26B864B8D3}"/>
              </a:ext>
            </a:extLst>
          </p:cNvPr>
          <p:cNvPicPr>
            <a:picLocks noChangeAspect="1"/>
          </p:cNvPicPr>
          <p:nvPr/>
        </p:nvPicPr>
        <p:blipFill>
          <a:blip r:embed="rId5"/>
          <a:stretch>
            <a:fillRect/>
          </a:stretch>
        </p:blipFill>
        <p:spPr>
          <a:xfrm>
            <a:off x="152399" y="30741563"/>
            <a:ext cx="13302252" cy="1872037"/>
          </a:xfrm>
          <a:prstGeom prst="rect">
            <a:avLst/>
          </a:prstGeom>
        </p:spPr>
      </p:pic>
      <p:sp>
        <p:nvSpPr>
          <p:cNvPr id="10" name="TextBox 9">
            <a:extLst>
              <a:ext uri="{FF2B5EF4-FFF2-40B4-BE49-F238E27FC236}">
                <a16:creationId xmlns:a16="http://schemas.microsoft.com/office/drawing/2014/main" id="{CD0ED0B3-F940-D7BB-FAA3-9854FC436C17}"/>
              </a:ext>
            </a:extLst>
          </p:cNvPr>
          <p:cNvSpPr txBox="1"/>
          <p:nvPr/>
        </p:nvSpPr>
        <p:spPr>
          <a:xfrm>
            <a:off x="485971" y="7623953"/>
            <a:ext cx="14070898" cy="674030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Problem Definition</a:t>
            </a:r>
          </a:p>
          <a:p>
            <a:pPr algn="just"/>
            <a:r>
              <a:rPr lang="en-US" dirty="0">
                <a:latin typeface="Arial" panose="020B0604020202020204" pitchFamily="34" charset="0"/>
                <a:cs typeface="Arial" panose="020B0604020202020204" pitchFamily="34" charset="0"/>
              </a:rPr>
              <a:t>Research indicated that cloud misconfigurations, weaknesses in IAM, and insufficient monitoring capabilities are among the leading contributors to security incidents in cloud environments (NIST, 2020; 2024). These challenges are further intensified by increasingly sophisticated cyber threats targeting sensitive financial and organizational data (NIST, 2024).A primary cybersecurity concern in modern environments is identity compromise, which occurs through threats such as phishing attacks, credential theft, and weak authentication mechanisms (NIST, 2020). Industry findings indicated that compromised credentials remain a dominant attack vector, enabling unauthorized access to critical systems and sensitive data (IBM, 2025). Traditional perimeter-based cybersecurity models, which assume trust within internal networks, are no longer effective in cloud environments where users, devices, and services operate across multiple network boundaries. This shift increases the likelihood of unauthorized access and lateral movement within systems (NIST, 2020). Insider-related threats represent a significant cybersecurity concern, arising from both malicious actions and unintentional user behavior involving authorized access. Weak access control practices and inadequate cybersecurity policies can increase the risk of misuse of privileges and unauthorized data access, particularly in cloud environments (Veloudis et al., 2017; Ziani &amp; </a:t>
            </a:r>
            <a:r>
              <a:rPr lang="en-US" dirty="0" err="1">
                <a:latin typeface="Arial" panose="020B0604020202020204" pitchFamily="34" charset="0"/>
                <a:cs typeface="Arial" panose="020B0604020202020204" pitchFamily="34" charset="0"/>
              </a:rPr>
              <a:t>Medouri</a:t>
            </a:r>
            <a:r>
              <a:rPr lang="en-US" dirty="0">
                <a:latin typeface="Arial" panose="020B0604020202020204" pitchFamily="34" charset="0"/>
                <a:cs typeface="Arial" panose="020B0604020202020204" pitchFamily="34" charset="0"/>
              </a:rPr>
              <a:t>, 2018). These risks highlight the importance of governance-driven controls and continuous monitoring to effectively manage user access and protect sensitive data (Hegde et al., 2023).Organizations also encounter challenges in implementing effective and maintaining consistent compliance in cloud-based environments. Research also indicated that the effectiveness of cloud security largely depends on well-defined and enforceable cybersecurity policies, as inadequate cybersecurity policies can undermine trust and hinder the improvement of secure cloud adoption (Veloudis et al., 2017). ZTA addresses these challenges by attempting to eliminate implicit trust and requiring continuous authentication and authorization for all access requests (NIST, 2020). ZTA reduces the likelihood of unauthorized access and limits the potential impact of security incidents by enforcing strict identity verification and access control mechanisms. However, many organizations have not yet implemented comprehensive information security policies and compliance plans to support effective adoption of Zero Trust principles within cloud environments. Overall, the increasing reliance on cloud technologies, combined with weaknesses in identity governance, insider risk management, and compliance enforcement, creates significant cybersecurity risks across organizations. Addressing these challenges requires a structured approach that integrates Zero Trust principles with formalized and continuous compliance mechanisms aligned with the NIST CSF.</a:t>
            </a:r>
          </a:p>
        </p:txBody>
      </p:sp>
      <p:cxnSp>
        <p:nvCxnSpPr>
          <p:cNvPr id="13" name="Straight Connector 12">
            <a:extLst>
              <a:ext uri="{FF2B5EF4-FFF2-40B4-BE49-F238E27FC236}">
                <a16:creationId xmlns:a16="http://schemas.microsoft.com/office/drawing/2014/main" id="{DB0433BA-D6E2-D641-150E-5F049201A7A9}"/>
              </a:ext>
            </a:extLst>
          </p:cNvPr>
          <p:cNvCxnSpPr>
            <a:cxnSpLocks/>
          </p:cNvCxnSpPr>
          <p:nvPr/>
        </p:nvCxnSpPr>
        <p:spPr>
          <a:xfrm flipV="1">
            <a:off x="14989394" y="1917195"/>
            <a:ext cx="108058" cy="28270705"/>
          </a:xfrm>
          <a:prstGeom prst="line">
            <a:avLst/>
          </a:prstGeom>
          <a:ln w="76200" cmpd="sng"/>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CD75C8B9-9D53-3AEA-E14C-19445BACA079}"/>
              </a:ext>
            </a:extLst>
          </p:cNvPr>
          <p:cNvCxnSpPr>
            <a:cxnSpLocks/>
          </p:cNvCxnSpPr>
          <p:nvPr/>
        </p:nvCxnSpPr>
        <p:spPr>
          <a:xfrm flipV="1">
            <a:off x="34061400" y="4343033"/>
            <a:ext cx="0" cy="6403980"/>
          </a:xfrm>
          <a:prstGeom prst="line">
            <a:avLst/>
          </a:prstGeom>
          <a:ln w="76200" cmpd="sng"/>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2EB2E41E-2B4A-F23C-C571-8DB3BD374FB7}"/>
              </a:ext>
            </a:extLst>
          </p:cNvPr>
          <p:cNvSpPr txBox="1"/>
          <p:nvPr/>
        </p:nvSpPr>
        <p:spPr>
          <a:xfrm>
            <a:off x="123663" y="15677734"/>
            <a:ext cx="14755922" cy="784830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Facts</a:t>
            </a:r>
          </a:p>
          <a:p>
            <a:pPr algn="just"/>
            <a:r>
              <a:rPr lang="en-US" dirty="0">
                <a:latin typeface="Arial" panose="020B0604020202020204" pitchFamily="34" charset="0"/>
                <a:cs typeface="Arial" panose="020B0604020202020204" pitchFamily="34" charset="0"/>
              </a:rPr>
              <a:t>The organization under investigation , a small cloud-based accounting, FintSecure Accounting Services, manages highly sensitive data, including Personally Identifiable Information (PII), financial records, and tax-related documents. The nature of this data increases the organization’s exposure to cybersecurity and regulatory risks, particularly in cloud-based environments where identity and access controls play a critical role in protecting information assets (NIST, 2024). Although the organization has implemented several cybersecurity technologies, it does not maintain a formalized information security policy and compliance plan, resulting in weaknesses in governance and inconsistent compliance practices. This condition reflects a misalignment between deployed technical controls and policy-driven enforcement mechanisms. From an organizational perspective, the firm does not maintain a formalized information security leadership role, and cybersecurity responsibilities are assigned to a small information technology (IT) team focused primarily on operational support. As a result, critical information security policies, including access control, data classification, and incident response, are not consistently formalized or enforced. The NIST CSF 2.0(2024) emphasizes the importance of governance structures and clearly defined cybersecurity policies to support effective risk management and accountability .Culturally, the organization demonstrates limited cybersecurity awareness and minimal enforcement of acceptable cybersecurity practices. Employees often prioritize operational efficiency over adherence to, which contributes to behaviors such as credential sharing and bypassing multi-factor authentication (MFA). Research indicated that human behavior and organizational culture are significant contributors to cybersecurity incidents, particularly in environments without strong cybersecurity policy enforcement and accountability mechanisms (NIST, 2024). From a technological standpoint, the organization utilizes cloud-based tools such as Microsoft Entra ID, Microsoft 365, Microsoft Defender for Endpoint, and Microsoft Sentinel. While these technologies provide capabilities that support identity management and monitoring, their effectiveness depends on governance through formal. Current conditions include limited enforcement of MFA across all users, excessive assignment of privileged access, absence of conditional access policies, and insufficient review of logging and monitoring data. The NIST CSF highlights continuous monitoring and access control governance as essential components of an effective cybersecurity program (NIST, 2024). Behavioral factors further contribute to organizational risk exposure. Users demonstrate weak password practices, reuse credentials across systems, and exhibit susceptibility to phishing-related threats. Additionally, access to sensitive organizational data from unmanaged or personal devices increases the likelihood of data exposure. These behaviors are influenced by insufficient enforcement of acceptable use and cybersecurity awareness policies, as well as limited accountability structures within the organization. Overall, the organization does not currently operate under a structured Zero Trust-aligned information security policy and compliance plan, resulting in gaps across organizational, cultural, technological, and behavioral dimensions. These conditions reduce the organization’s ability to manage cybersecurity risks effectively and highlight the need for a governance-driven approach that integrates Zero Trust principles with formalized cybersecurity policies development and a continuous compliance plan aligned with the NIST CSF. </a:t>
            </a:r>
          </a:p>
        </p:txBody>
      </p:sp>
      <p:graphicFrame>
        <p:nvGraphicFramePr>
          <p:cNvPr id="33" name="Table 32">
            <a:extLst>
              <a:ext uri="{FF2B5EF4-FFF2-40B4-BE49-F238E27FC236}">
                <a16:creationId xmlns:a16="http://schemas.microsoft.com/office/drawing/2014/main" id="{D19AFCBC-2AA7-599B-AFB8-DDF4835D538F}"/>
              </a:ext>
            </a:extLst>
          </p:cNvPr>
          <p:cNvGraphicFramePr>
            <a:graphicFrameLocks noGrp="1"/>
          </p:cNvGraphicFramePr>
          <p:nvPr>
            <p:extLst>
              <p:ext uri="{D42A27DB-BD31-4B8C-83A1-F6EECF244321}">
                <p14:modId xmlns:p14="http://schemas.microsoft.com/office/powerpoint/2010/main" val="3948139117"/>
              </p:ext>
            </p:extLst>
          </p:nvPr>
        </p:nvGraphicFramePr>
        <p:xfrm>
          <a:off x="15442100" y="3631207"/>
          <a:ext cx="18078718" cy="8081404"/>
        </p:xfrm>
        <a:graphic>
          <a:graphicData uri="http://schemas.openxmlformats.org/drawingml/2006/table">
            <a:tbl>
              <a:tblPr firstRow="1" firstCol="1" bandRow="1">
                <a:effectLst>
                  <a:outerShdw blurRad="50800" dist="38100" dir="2700000" algn="tl" rotWithShape="0">
                    <a:prstClr val="black">
                      <a:alpha val="40000"/>
                    </a:prstClr>
                  </a:outerShdw>
                </a:effectLst>
              </a:tblPr>
              <a:tblGrid>
                <a:gridCol w="973280">
                  <a:extLst>
                    <a:ext uri="{9D8B030D-6E8A-4147-A177-3AD203B41FA5}">
                      <a16:colId xmlns:a16="http://schemas.microsoft.com/office/drawing/2014/main" val="3776606869"/>
                    </a:ext>
                  </a:extLst>
                </a:gridCol>
                <a:gridCol w="3801209">
                  <a:extLst>
                    <a:ext uri="{9D8B030D-6E8A-4147-A177-3AD203B41FA5}">
                      <a16:colId xmlns:a16="http://schemas.microsoft.com/office/drawing/2014/main" val="553563677"/>
                    </a:ext>
                  </a:extLst>
                </a:gridCol>
                <a:gridCol w="3711079">
                  <a:extLst>
                    <a:ext uri="{9D8B030D-6E8A-4147-A177-3AD203B41FA5}">
                      <a16:colId xmlns:a16="http://schemas.microsoft.com/office/drawing/2014/main" val="1847741777"/>
                    </a:ext>
                  </a:extLst>
                </a:gridCol>
                <a:gridCol w="1634370">
                  <a:extLst>
                    <a:ext uri="{9D8B030D-6E8A-4147-A177-3AD203B41FA5}">
                      <a16:colId xmlns:a16="http://schemas.microsoft.com/office/drawing/2014/main" val="996039708"/>
                    </a:ext>
                  </a:extLst>
                </a:gridCol>
                <a:gridCol w="1781815">
                  <a:extLst>
                    <a:ext uri="{9D8B030D-6E8A-4147-A177-3AD203B41FA5}">
                      <a16:colId xmlns:a16="http://schemas.microsoft.com/office/drawing/2014/main" val="2505472545"/>
                    </a:ext>
                  </a:extLst>
                </a:gridCol>
                <a:gridCol w="6176965">
                  <a:extLst>
                    <a:ext uri="{9D8B030D-6E8A-4147-A177-3AD203B41FA5}">
                      <a16:colId xmlns:a16="http://schemas.microsoft.com/office/drawing/2014/main" val="112876609"/>
                    </a:ext>
                  </a:extLst>
                </a:gridCol>
              </a:tblGrid>
              <a:tr h="522364">
                <a:tc>
                  <a:txBody>
                    <a:bodyPr/>
                    <a:lstStyle/>
                    <a:p>
                      <a:pPr marL="0" marR="0">
                        <a:lnSpc>
                          <a:spcPct val="100000"/>
                        </a:lnSpc>
                        <a:spcAft>
                          <a:spcPts val="800"/>
                        </a:spcAft>
                        <a:buNone/>
                      </a:pPr>
                      <a:r>
                        <a:rPr lang="en-US" sz="1600" b="1"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Risk Rank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Cyber Threat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Cyber Risk</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Likelihood</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Impact</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Action Item</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427467851"/>
                  </a:ext>
                </a:extLst>
              </a:tr>
              <a:tr h="846585">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Phishing / Credential Theft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Unauthorized access to sensitive financial and PII data due to successful phishing attacks and compromised credentials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ACT1 – Develop identity and authentication policy enforcing MFA and least privilege access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01881952"/>
                  </a:ext>
                </a:extLst>
              </a:tr>
              <a:tr h="703894">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Excessive Privileges / Insider Threat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exposure or unauthorized modification of financial records due to misuse of privileged access by internal users.</a:t>
                      </a: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ACT2 – Develop and enforce access control policy based on least privilege and role-based access governance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3726783"/>
                  </a:ext>
                </a:extLst>
              </a:tr>
              <a:tr h="703894">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Cloud Misconfiguration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Exposure of sensitive financial data due to exploitation of misconfigured cloud storage or services.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ACT3 – Establish cloud security governance and configuration management policy aligned with Zero Trust principles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89799850"/>
                  </a:ext>
                </a:extLst>
              </a:tr>
              <a:tr h="846585">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Credential Compromise\Weak Authentication Practices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Unauthorized system access and lateral movement due to compromised credentials and weak authentication mechanisms.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ACT1 – Strengthen identity and authentication policy with enforced MFA and password standards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064774"/>
                  </a:ext>
                </a:extLst>
              </a:tr>
              <a:tr h="672443">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lvl="0" indent="0" algn="l" defTabSz="4096476" rtl="0" eaLnBrk="1" fontAlgn="auto" latinLnBrk="0" hangingPunct="1">
                        <a:lnSpc>
                          <a:spcPct val="100000"/>
                        </a:lnSpc>
                        <a:spcBef>
                          <a:spcPts val="0"/>
                        </a:spcBef>
                        <a:spcAft>
                          <a:spcPts val="800"/>
                        </a:spcAft>
                        <a:buClrTx/>
                        <a:buSzTx/>
                        <a:buFontTx/>
                        <a:buNone/>
                        <a:tabLst/>
                        <a:defRPr/>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Logging and Monitoring Invasion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Increased impact of cybersecurity incidents due to delayed detection resulting from ineffective logging and monitoring processes.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Medium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ACT4 – Implement logging, monitoring, and auditing policy with continuous compliance checks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461477601"/>
                  </a:ext>
                </a:extLst>
              </a:tr>
              <a:tr h="703894">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Mismanagement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Leakage or unauthorized disclosure of sensitive financial data due to improper data handling and classification practices.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Medium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ACT6 – Establish data classification and data protection policy aligned with compliance requirements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91560690"/>
                  </a:ext>
                </a:extLst>
              </a:tr>
              <a:tr h="672443">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Insider Negligence / Human Error</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Accidental data exposure or system compromise due to user errors such as mishandling sensitive information or falling victim to phishing.</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High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Medium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ACT5 – Develop security awareness and acceptable use policy with enforcement mechanisms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2616265"/>
                  </a:ext>
                </a:extLst>
              </a:tr>
              <a:tr h="703894">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Exploitation of Ineffective Incident Response Processes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Extended operational disruption and increased recovery time due to ineffective incident response processes during cybersecurity incidents.</a:t>
                      </a: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Medium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Medium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ACT7 – Develop incident response and recovery policy aligned with NIST guidelines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2370568"/>
                  </a:ext>
                </a:extLst>
              </a:tr>
            </a:tbl>
          </a:graphicData>
        </a:graphic>
      </p:graphicFrame>
      <p:sp>
        <p:nvSpPr>
          <p:cNvPr id="38" name="TextBox 37">
            <a:extLst>
              <a:ext uri="{FF2B5EF4-FFF2-40B4-BE49-F238E27FC236}">
                <a16:creationId xmlns:a16="http://schemas.microsoft.com/office/drawing/2014/main" id="{1517C814-0A4E-F763-0864-1791813A21E4}"/>
              </a:ext>
            </a:extLst>
          </p:cNvPr>
          <p:cNvSpPr txBox="1"/>
          <p:nvPr/>
        </p:nvSpPr>
        <p:spPr>
          <a:xfrm>
            <a:off x="15402241" y="2049038"/>
            <a:ext cx="27498359" cy="147732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Risk Management and Analysis </a:t>
            </a:r>
          </a:p>
          <a:p>
            <a:pPr algn="just"/>
            <a:r>
              <a:rPr lang="en-US" dirty="0">
                <a:latin typeface="Arial" panose="020B0604020202020204" pitchFamily="34" charset="0"/>
                <a:cs typeface="Arial" panose="020B0604020202020204" pitchFamily="34" charset="0"/>
              </a:rPr>
              <a:t>The identified risks highlight critical gaps in identity governance, access control, cloud management, and compliance enforcement (NIST, 2024). The most critical risks—identity compromise and excessive privileges—highlight the need for Zero Trust principles such as continuous verification and least privilege. Additional risks, including cloud misconfigurations, weak monitoring, and poor policy enforcement, emphasize the importance of structured cybersecurity policies supported by a continuous compliance plan. The proposed action items align with the NIST CSF (NIST, 2024) and form the basis for the recommended solution. </a:t>
            </a:r>
          </a:p>
          <a:p>
            <a:r>
              <a:rPr lang="en-US" b="1" dirty="0">
                <a:solidFill>
                  <a:srgbClr val="0E3E89"/>
                </a:solidFill>
                <a:latin typeface="Arial" panose="020B0604020202020204" pitchFamily="34" charset="0"/>
                <a:cs typeface="Arial" panose="020B0604020202020204" pitchFamily="34" charset="0"/>
              </a:rPr>
              <a:t>Table 1: Risk Management Summary</a:t>
            </a:r>
          </a:p>
        </p:txBody>
      </p:sp>
      <p:sp>
        <p:nvSpPr>
          <p:cNvPr id="42" name="TextBox 41">
            <a:extLst>
              <a:ext uri="{FF2B5EF4-FFF2-40B4-BE49-F238E27FC236}">
                <a16:creationId xmlns:a16="http://schemas.microsoft.com/office/drawing/2014/main" id="{9F1E1E15-E76C-139D-5734-249855AA977F}"/>
              </a:ext>
            </a:extLst>
          </p:cNvPr>
          <p:cNvSpPr txBox="1"/>
          <p:nvPr/>
        </p:nvSpPr>
        <p:spPr>
          <a:xfrm>
            <a:off x="31891274" y="11817452"/>
            <a:ext cx="17526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(NIST, 2024) </a:t>
            </a:r>
          </a:p>
        </p:txBody>
      </p:sp>
      <p:graphicFrame>
        <p:nvGraphicFramePr>
          <p:cNvPr id="43" name="Table 42">
            <a:extLst>
              <a:ext uri="{FF2B5EF4-FFF2-40B4-BE49-F238E27FC236}">
                <a16:creationId xmlns:a16="http://schemas.microsoft.com/office/drawing/2014/main" id="{F656C2A2-2135-E3BC-EE70-621A5361938A}"/>
              </a:ext>
            </a:extLst>
          </p:cNvPr>
          <p:cNvGraphicFramePr>
            <a:graphicFrameLocks noGrp="1"/>
          </p:cNvGraphicFramePr>
          <p:nvPr>
            <p:extLst>
              <p:ext uri="{D42A27DB-BD31-4B8C-83A1-F6EECF244321}">
                <p14:modId xmlns:p14="http://schemas.microsoft.com/office/powerpoint/2010/main" val="22694760"/>
              </p:ext>
            </p:extLst>
          </p:nvPr>
        </p:nvGraphicFramePr>
        <p:xfrm>
          <a:off x="15267759" y="22947764"/>
          <a:ext cx="16127544" cy="6998671"/>
        </p:xfrm>
        <a:graphic>
          <a:graphicData uri="http://schemas.openxmlformats.org/drawingml/2006/table">
            <a:tbl>
              <a:tblPr firstRow="1" firstCol="1" bandRow="1">
                <a:effectLst>
                  <a:outerShdw blurRad="50800" dist="38100" dir="2700000" algn="tl" rotWithShape="0">
                    <a:prstClr val="black">
                      <a:alpha val="40000"/>
                    </a:prstClr>
                  </a:outerShdw>
                </a:effectLst>
              </a:tblPr>
              <a:tblGrid>
                <a:gridCol w="1309286">
                  <a:extLst>
                    <a:ext uri="{9D8B030D-6E8A-4147-A177-3AD203B41FA5}">
                      <a16:colId xmlns:a16="http://schemas.microsoft.com/office/drawing/2014/main" val="3104486273"/>
                    </a:ext>
                  </a:extLst>
                </a:gridCol>
                <a:gridCol w="1575878">
                  <a:extLst>
                    <a:ext uri="{9D8B030D-6E8A-4147-A177-3AD203B41FA5}">
                      <a16:colId xmlns:a16="http://schemas.microsoft.com/office/drawing/2014/main" val="1888710264"/>
                    </a:ext>
                  </a:extLst>
                </a:gridCol>
                <a:gridCol w="3006624">
                  <a:extLst>
                    <a:ext uri="{9D8B030D-6E8A-4147-A177-3AD203B41FA5}">
                      <a16:colId xmlns:a16="http://schemas.microsoft.com/office/drawing/2014/main" val="3435982522"/>
                    </a:ext>
                  </a:extLst>
                </a:gridCol>
                <a:gridCol w="1555368">
                  <a:extLst>
                    <a:ext uri="{9D8B030D-6E8A-4147-A177-3AD203B41FA5}">
                      <a16:colId xmlns:a16="http://schemas.microsoft.com/office/drawing/2014/main" val="258579190"/>
                    </a:ext>
                  </a:extLst>
                </a:gridCol>
                <a:gridCol w="236284">
                  <a:extLst>
                    <a:ext uri="{9D8B030D-6E8A-4147-A177-3AD203B41FA5}">
                      <a16:colId xmlns:a16="http://schemas.microsoft.com/office/drawing/2014/main" val="2707700539"/>
                    </a:ext>
                  </a:extLst>
                </a:gridCol>
                <a:gridCol w="1465453">
                  <a:extLst>
                    <a:ext uri="{9D8B030D-6E8A-4147-A177-3AD203B41FA5}">
                      <a16:colId xmlns:a16="http://schemas.microsoft.com/office/drawing/2014/main" val="3405025004"/>
                    </a:ext>
                  </a:extLst>
                </a:gridCol>
                <a:gridCol w="2344095">
                  <a:extLst>
                    <a:ext uri="{9D8B030D-6E8A-4147-A177-3AD203B41FA5}">
                      <a16:colId xmlns:a16="http://schemas.microsoft.com/office/drawing/2014/main" val="1757606879"/>
                    </a:ext>
                  </a:extLst>
                </a:gridCol>
                <a:gridCol w="1921336">
                  <a:extLst>
                    <a:ext uri="{9D8B030D-6E8A-4147-A177-3AD203B41FA5}">
                      <a16:colId xmlns:a16="http://schemas.microsoft.com/office/drawing/2014/main" val="2131628372"/>
                    </a:ext>
                  </a:extLst>
                </a:gridCol>
                <a:gridCol w="2713220">
                  <a:extLst>
                    <a:ext uri="{9D8B030D-6E8A-4147-A177-3AD203B41FA5}">
                      <a16:colId xmlns:a16="http://schemas.microsoft.com/office/drawing/2014/main" val="1294203590"/>
                    </a:ext>
                  </a:extLst>
                </a:gridCol>
              </a:tblGrid>
              <a:tr h="266025">
                <a:tc>
                  <a:txBody>
                    <a:bodyPr/>
                    <a:lstStyle/>
                    <a:p>
                      <a:pPr marL="0" marR="0">
                        <a:lnSpc>
                          <a:spcPct val="100000"/>
                        </a:lnSpc>
                        <a:spcAft>
                          <a:spcPts val="800"/>
                        </a:spcAft>
                        <a:buNone/>
                      </a:pPr>
                      <a:r>
                        <a:rPr lang="en-US" sz="1600" b="1"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ACT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Solution ID</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Action Plan Description</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gridSpan="3">
                  <a:txBody>
                    <a:bodyPr/>
                    <a:lstStyle/>
                    <a:p>
                      <a:pPr marL="0" marR="0">
                        <a:lnSpc>
                          <a:spcPct val="100000"/>
                        </a:lnSpc>
                        <a:spcAft>
                          <a:spcPts val="800"/>
                        </a:spcAft>
                        <a:buNone/>
                      </a:pPr>
                      <a:r>
                        <a:rPr lang="en-US" sz="1600" b="1"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NIST Function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McCumber Cube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Plan Type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tc>
                  <a:txBody>
                    <a:bodyPr/>
                    <a:lstStyle/>
                    <a:p>
                      <a:pPr marL="0" marR="0">
                        <a:lnSpc>
                          <a:spcPct val="100000"/>
                        </a:lnSpc>
                        <a:spcAft>
                          <a:spcPts val="800"/>
                        </a:spcAft>
                        <a:buNone/>
                      </a:pPr>
                      <a:r>
                        <a:rPr lang="en-US" sz="1600" b="1">
                          <a:solidFill>
                            <a:srgbClr val="FFFFFF"/>
                          </a:solidFill>
                          <a:effectLst/>
                          <a:latin typeface="Arial" panose="020B0604020202020204" pitchFamily="34" charset="0"/>
                          <a:ea typeface="Times New Roman" panose="02020603050405020304" pitchFamily="18" charset="0"/>
                          <a:cs typeface="Arial" panose="020B0604020202020204" pitchFamily="34" charset="0"/>
                        </a:rPr>
                        <a:t>Risk Addressed</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740618554"/>
                  </a:ext>
                </a:extLst>
              </a:tr>
              <a:tr h="828878">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and enforce identity and authentication policies requiring MFA and continuous verification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gridSpan="3">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 Technology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Unauthorized access to sensitive financial and PII data due to successful phishing attacks and compromised credentials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895790803"/>
                  </a:ext>
                </a:extLst>
              </a:tr>
              <a:tr h="828878">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M2</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 and enforce access control policies based on least privilege and RBAC</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People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exposure due to misuse of privileged access (insider threat)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6337138"/>
                  </a:ext>
                </a:extLst>
              </a:tr>
              <a:tr h="1118565">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cloud governance policies addressing configuration management and access controls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gridSpan="2">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Identify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9ED5"/>
                    </a:solidFill>
                  </a:tcPr>
                </a:tc>
                <a:tc hMerge="1">
                  <a:txBody>
                    <a:bodyPr/>
                    <a:lstStyle/>
                    <a:p>
                      <a:endParaRPr lang="en-US"/>
                    </a:p>
                  </a:txBody>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Exposure of sensitive data due to cloud misconfiguration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248175154"/>
                  </a:ext>
                </a:extLst>
              </a:tr>
              <a:tr h="883763">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ACT4</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M4</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Establish logging and monitoring policies to support anomaly detection and visibility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33"/>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Data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4096476" rtl="0" eaLnBrk="1" fontAlgn="auto" latinLnBrk="0" hangingPunct="1">
                        <a:lnSpc>
                          <a:spcPct val="100000"/>
                        </a:lnSpc>
                        <a:spcBef>
                          <a:spcPts val="0"/>
                        </a:spcBef>
                        <a:spcAft>
                          <a:spcPts val="800"/>
                        </a:spcAft>
                        <a:buClrTx/>
                        <a:buSzTx/>
                        <a:buFontTx/>
                        <a:buNone/>
                        <a:tabLst/>
                        <a:defRPr/>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pPr marL="0" marR="0">
                        <a:lnSpc>
                          <a:spcPct val="100000"/>
                        </a:lnSpc>
                        <a:spcAft>
                          <a:spcPts val="800"/>
                        </a:spcAft>
                        <a:buNone/>
                      </a:pP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4096476" rtl="0" eaLnBrk="1" fontAlgn="auto" latinLnBrk="0" hangingPunct="1">
                        <a:lnSpc>
                          <a:spcPct val="100000"/>
                        </a:lnSpc>
                        <a:spcBef>
                          <a:spcPts val="0"/>
                        </a:spcBef>
                        <a:spcAft>
                          <a:spcPts val="800"/>
                        </a:spcAft>
                        <a:buClrTx/>
                        <a:buSzTx/>
                        <a:buFontTx/>
                        <a:buNone/>
                        <a:tabLst/>
                        <a:defRPr/>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Increased impact of incidents due to delayed detection from ineffective monitoring</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6398367"/>
                  </a:ext>
                </a:extLst>
              </a:tr>
              <a:tr h="691726">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ACT6</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M5</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Develop data classification and protection policies for sensitive financial data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gridSpan="3">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People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l" rtl="0" fontAlgn="ctr">
                        <a:buNone/>
                      </a:pPr>
                      <a:r>
                        <a:rPr lang="en-US" sz="1600" b="0" i="0" u="none" strike="noStrike" dirty="0">
                          <a:solidFill>
                            <a:srgbClr val="000000"/>
                          </a:solidFill>
                          <a:effectLst/>
                          <a:latin typeface="Arial" panose="020B0604020202020204" pitchFamily="34" charset="0"/>
                          <a:cs typeface="Arial" panose="020B0604020202020204" pitchFamily="34" charset="0"/>
                        </a:rPr>
                        <a:t>Data leakage due to improper data handling and mismanagement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956178602"/>
                  </a:ext>
                </a:extLst>
              </a:tr>
              <a:tr h="883763">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ACT5</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M6</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 security awareness and training policies to reduce human-related risks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hMerge="1">
                  <a:txBody>
                    <a:bodyPr/>
                    <a:lstStyle/>
                    <a:p>
                      <a:endParaRPr lang="en-US"/>
                    </a:p>
                  </a:txBody>
                  <a:tcPr/>
                </a:tc>
                <a:tc hMerge="1">
                  <a:txBody>
                    <a:bodyPr/>
                    <a:lstStyle/>
                    <a:p>
                      <a:endParaRPr lang="en-US"/>
                    </a:p>
                  </a:txBody>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Accidental data exposure due to insider negligence and human error</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1077058"/>
                  </a:ext>
                </a:extLst>
              </a:tr>
              <a:tr h="574894">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ACT7</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M7</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incident response policies to support timely response and recovery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Respond </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0000"/>
                    </a:solidFill>
                  </a:tcPr>
                </a:tc>
                <a:tc gridSpan="2">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Recover</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hMerge="1">
                  <a:txBody>
                    <a:bodyPr/>
                    <a:lstStyle/>
                    <a:p>
                      <a:endParaRPr lang="en-US"/>
                    </a:p>
                  </a:txBody>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People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Extended operational disruption due to ineffective incident response processes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43918" marR="439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149865875"/>
                  </a:ext>
                </a:extLst>
              </a:tr>
            </a:tbl>
          </a:graphicData>
        </a:graphic>
      </p:graphicFrame>
      <p:graphicFrame>
        <p:nvGraphicFramePr>
          <p:cNvPr id="51" name="Table 50">
            <a:extLst>
              <a:ext uri="{FF2B5EF4-FFF2-40B4-BE49-F238E27FC236}">
                <a16:creationId xmlns:a16="http://schemas.microsoft.com/office/drawing/2014/main" id="{41F8A9B4-4E95-DF20-0CBB-A9AD3B43E46E}"/>
              </a:ext>
            </a:extLst>
          </p:cNvPr>
          <p:cNvGraphicFramePr>
            <a:graphicFrameLocks noGrp="1"/>
          </p:cNvGraphicFramePr>
          <p:nvPr>
            <p:extLst>
              <p:ext uri="{D42A27DB-BD31-4B8C-83A1-F6EECF244321}">
                <p14:modId xmlns:p14="http://schemas.microsoft.com/office/powerpoint/2010/main" val="4120518276"/>
              </p:ext>
            </p:extLst>
          </p:nvPr>
        </p:nvGraphicFramePr>
        <p:xfrm>
          <a:off x="15369085" y="14827337"/>
          <a:ext cx="14649554" cy="7638401"/>
        </p:xfrm>
        <a:graphic>
          <a:graphicData uri="http://schemas.openxmlformats.org/drawingml/2006/table">
            <a:tbl>
              <a:tblPr firstRow="1" firstCol="1" bandRow="1">
                <a:effectLst>
                  <a:outerShdw blurRad="50800" dist="38100" dir="2700000" algn="tl" rotWithShape="0">
                    <a:prstClr val="black">
                      <a:alpha val="40000"/>
                    </a:prstClr>
                  </a:outerShdw>
                </a:effectLst>
              </a:tblPr>
              <a:tblGrid>
                <a:gridCol w="1564859">
                  <a:extLst>
                    <a:ext uri="{9D8B030D-6E8A-4147-A177-3AD203B41FA5}">
                      <a16:colId xmlns:a16="http://schemas.microsoft.com/office/drawing/2014/main" val="360199676"/>
                    </a:ext>
                  </a:extLst>
                </a:gridCol>
                <a:gridCol w="2920015">
                  <a:extLst>
                    <a:ext uri="{9D8B030D-6E8A-4147-A177-3AD203B41FA5}">
                      <a16:colId xmlns:a16="http://schemas.microsoft.com/office/drawing/2014/main" val="2985270750"/>
                    </a:ext>
                  </a:extLst>
                </a:gridCol>
                <a:gridCol w="1896897">
                  <a:extLst>
                    <a:ext uri="{9D8B030D-6E8A-4147-A177-3AD203B41FA5}">
                      <a16:colId xmlns:a16="http://schemas.microsoft.com/office/drawing/2014/main" val="3906478533"/>
                    </a:ext>
                  </a:extLst>
                </a:gridCol>
                <a:gridCol w="2014461">
                  <a:extLst>
                    <a:ext uri="{9D8B030D-6E8A-4147-A177-3AD203B41FA5}">
                      <a16:colId xmlns:a16="http://schemas.microsoft.com/office/drawing/2014/main" val="2308374497"/>
                    </a:ext>
                  </a:extLst>
                </a:gridCol>
                <a:gridCol w="2012871">
                  <a:extLst>
                    <a:ext uri="{9D8B030D-6E8A-4147-A177-3AD203B41FA5}">
                      <a16:colId xmlns:a16="http://schemas.microsoft.com/office/drawing/2014/main" val="2348876849"/>
                    </a:ext>
                  </a:extLst>
                </a:gridCol>
                <a:gridCol w="1935026">
                  <a:extLst>
                    <a:ext uri="{9D8B030D-6E8A-4147-A177-3AD203B41FA5}">
                      <a16:colId xmlns:a16="http://schemas.microsoft.com/office/drawing/2014/main" val="2834736076"/>
                    </a:ext>
                  </a:extLst>
                </a:gridCol>
                <a:gridCol w="2305425">
                  <a:extLst>
                    <a:ext uri="{9D8B030D-6E8A-4147-A177-3AD203B41FA5}">
                      <a16:colId xmlns:a16="http://schemas.microsoft.com/office/drawing/2014/main" val="556042173"/>
                    </a:ext>
                  </a:extLst>
                </a:gridCol>
              </a:tblGrid>
              <a:tr h="0">
                <a:tc>
                  <a:txBody>
                    <a:bodyPr/>
                    <a:lstStyle/>
                    <a:p>
                      <a:pPr marL="0" marR="0">
                        <a:lnSpc>
                          <a:spcPct val="100000"/>
                        </a:lnSpc>
                        <a:spcAft>
                          <a:spcPts val="800"/>
                        </a:spcAft>
                        <a:buNone/>
                      </a:pPr>
                      <a:r>
                        <a:rPr lang="en-US" sz="16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Solution ID</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NIST Function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NIST CSF 2.0(2024)Category</a:t>
                      </a: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Subcategory </a:t>
                      </a: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McCumber Cube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a:solidFill>
                            <a:srgbClr val="FFFFFF"/>
                          </a:solidFill>
                          <a:effectLst/>
                          <a:latin typeface="Arial" panose="020B0604020202020204" pitchFamily="34" charset="0"/>
                          <a:ea typeface="Times New Roman" panose="02020603050405020304" pitchFamily="18" charset="0"/>
                          <a:cs typeface="Arial" panose="020B0604020202020204" pitchFamily="34" charset="0"/>
                        </a:rPr>
                        <a:t>Plan Type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Action Plan</a:t>
                      </a:r>
                    </a:p>
                  </a:txBody>
                  <a:tcPr marL="61821" marR="618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extLst>
                  <a:ext uri="{0D108BD9-81ED-4DB2-BD59-A6C34878D82A}">
                    <a16:rowId xmlns:a16="http://schemas.microsoft.com/office/drawing/2014/main" val="1397583703"/>
                  </a:ext>
                </a:extLst>
              </a:tr>
              <a:tr h="57509">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 (PR. AA)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Access Control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PR.AA-1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 Technology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Establish identity and authentication policies enforcing MFA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285543596"/>
                  </a:ext>
                </a:extLst>
              </a:tr>
              <a:tr h="1016913">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 (PR. AA)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Access Control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PR.AA-4</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People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 and enforce least privilege and RBAC policies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2824906"/>
                  </a:ext>
                </a:extLst>
              </a:tr>
              <a:tr h="1280269">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Identify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(GV.PO)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9ED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Governance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ID.GV-1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cloud security governance policies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658435554"/>
                  </a:ext>
                </a:extLst>
              </a:tr>
              <a:tr h="1016913">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M4</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Detect (DE. CM)</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33"/>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Security Continuous Monitoring</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DE.CM-1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Data</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Technical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Establish centralized logging and monitoring policies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7015164"/>
                  </a:ext>
                </a:extLst>
              </a:tr>
              <a:tr h="753557">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M5</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 (PR. AT)</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 Security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PR.DS-1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People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data classification and protection policies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056609169"/>
                  </a:ext>
                </a:extLst>
              </a:tr>
              <a:tr h="1016913">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M6</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Protect (PR. DS)</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66FF"/>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Awareness &amp; Training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PR.AT-1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Establish security awareness and training program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6631234"/>
                  </a:ext>
                </a:extLst>
              </a:tr>
              <a:tr h="1334636">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M7</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Respond (RS.RP)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0000"/>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Response Planning</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RS.PS-1</a:t>
                      </a: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Technology / People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Managerial</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marL="0" marR="0">
                        <a:lnSpc>
                          <a:spcPct val="100000"/>
                        </a:lnSpc>
                        <a:spcAft>
                          <a:spcPts val="800"/>
                        </a:spcAft>
                        <a:buNone/>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 incident response policies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1821" marR="6182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179199859"/>
                  </a:ext>
                </a:extLst>
              </a:tr>
            </a:tbl>
          </a:graphicData>
        </a:graphic>
      </p:graphicFrame>
      <p:sp>
        <p:nvSpPr>
          <p:cNvPr id="52" name="Rectangle 6">
            <a:extLst>
              <a:ext uri="{FF2B5EF4-FFF2-40B4-BE49-F238E27FC236}">
                <a16:creationId xmlns:a16="http://schemas.microsoft.com/office/drawing/2014/main" id="{A2093E89-81C2-BAC4-E809-CD24CD5559AF}"/>
              </a:ext>
            </a:extLst>
          </p:cNvPr>
          <p:cNvSpPr>
            <a:spLocks noChangeArrowheads="1"/>
          </p:cNvSpPr>
          <p:nvPr/>
        </p:nvSpPr>
        <p:spPr bwMode="auto">
          <a:xfrm>
            <a:off x="15442100" y="12327915"/>
            <a:ext cx="15690724" cy="1964632"/>
          </a:xfrm>
          <a:prstGeom prst="rect">
            <a:avLst/>
          </a:prstGeom>
          <a:ln/>
        </p:spPr>
        <p:style>
          <a:lnRef idx="1">
            <a:schemeClr val="dk1"/>
          </a:lnRef>
          <a:fillRef idx="2">
            <a:schemeClr val="dk1"/>
          </a:fillRef>
          <a:effectRef idx="1">
            <a:schemeClr val="dk1"/>
          </a:effectRef>
          <a:fontRef idx="minor">
            <a:schemeClr val="dk1"/>
          </a:fontRef>
        </p:style>
        <p:txBody>
          <a:bodyPr vert="horz" wrap="square" lIns="0" tIns="25392" rIns="0" bIns="0" numCol="1" anchor="ctr" anchorCtr="0" compatLnSpc="1">
            <a:prstTxWarp prst="textNoShape">
              <a:avLst/>
            </a:prstTxWarp>
            <a:spAutoFit/>
          </a:bodyPr>
          <a:lstStyle/>
          <a:p>
            <a:pPr lvl="0" algn="ctr" eaLnBrk="0" hangingPunct="0"/>
            <a:r>
              <a:rPr lang="en-US" altLang="en-US" b="1" dirty="0">
                <a:solidFill>
                  <a:srgbClr val="0E3E89"/>
                </a:solidFill>
                <a:latin typeface="Arial" panose="020B0604020202020204" pitchFamily="34" charset="0"/>
                <a:cs typeface="Arial" panose="020B0604020202020204" pitchFamily="34" charset="0"/>
              </a:rPr>
              <a:t>Recommended Solution and Action Plan</a:t>
            </a:r>
          </a:p>
          <a:p>
            <a:pPr lvl="0" algn="just" eaLnBrk="0" hangingPunct="0"/>
            <a:r>
              <a:rPr lang="en-US" altLang="en-US" dirty="0">
                <a:latin typeface="Arial" panose="020B0604020202020204" pitchFamily="34" charset="0"/>
                <a:cs typeface="Arial" panose="020B0604020202020204" pitchFamily="34" charset="0"/>
              </a:rPr>
              <a:t>The recommended solution and action plan is a set of Zero Trust cybersecurity policies advancing the organization from NIST CSF Tier 1 (Partial) to Tier 2 (Risk-Informed), structured by the NIST CSF 2.0 (2024) functions Identify, Protect, and Detect, and validated with the McCumber Cube to maintain balanced attention to human factors, policy, and technology (McCumber, 2004; National Institute of Standards and Technology, 2020; 2024). All controls are mapped to identified risks, enabling continuous compliance, stronger governance, and improved cybersecurity posture in cloud-based financial environments.</a:t>
            </a:r>
          </a:p>
          <a:p>
            <a:pPr lvl="0" eaLnBrk="0" hangingPunct="0"/>
            <a:endParaRPr lang="en-US" altLang="en-US"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EAB2ACD5-1352-5BAB-9893-6D091220BBFD}"/>
              </a:ext>
            </a:extLst>
          </p:cNvPr>
          <p:cNvSpPr txBox="1"/>
          <p:nvPr/>
        </p:nvSpPr>
        <p:spPr>
          <a:xfrm>
            <a:off x="34205812" y="4590368"/>
            <a:ext cx="9220199" cy="590931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Anticipated Results </a:t>
            </a:r>
          </a:p>
          <a:p>
            <a:pPr algn="just"/>
            <a:r>
              <a:rPr lang="en-US" dirty="0">
                <a:latin typeface="Arial" panose="020B0604020202020204" pitchFamily="34" charset="0"/>
                <a:cs typeface="Arial" panose="020B0604020202020204" pitchFamily="34" charset="0"/>
              </a:rPr>
              <a:t>This proposed Zero Trust cybersecurity policies and compliance plan is expected to improve the organization’s cybersecurity posture by strengthening governance, reducing risk exposure, and improving compliance. The implementation of structured, standard-aligned cybersecurity policies and compliance plan will enable a consistent and risk-informed approach to cybersecurity management (NIST, 2024). Operationally, this proposed project is expected to improve monitoring and incident response through formal logging and response policies, enabling earlier detection of security events and better coordination. Clearly defined roles and governance structures are expected to improve accountability and decision-making. In terms of communication security, implementing identity and access management policies based on Zero Trust principles—such as MFA, least privilege, and continuous verification—is expected in reducing unauthorized access and limit lateral movement, protecting sensitive financial data. From a data and network security perspective, data classification and protection policies will attempt to strengthen and safeguard sensitive information, including PII and financial records. Improved cloud governance and monitoring will enhance visibility and reduce risks related to misconfigurations and data exposure. Overall, this proposed project will move the organization from NIST CSF Tier 1 (Partial) to Tier 2 (Risk-Informed), establishing defined policies, stronger governance, and integrated risk management. This will attempt to enable proactive risk management, improved resilience, improved security and compliant operations in a cloud-based environment(NIST, 2024). </a:t>
            </a:r>
          </a:p>
        </p:txBody>
      </p:sp>
      <p:sp>
        <p:nvSpPr>
          <p:cNvPr id="63" name="TextBox 62">
            <a:extLst>
              <a:ext uri="{FF2B5EF4-FFF2-40B4-BE49-F238E27FC236}">
                <a16:creationId xmlns:a16="http://schemas.microsoft.com/office/drawing/2014/main" id="{563779EA-53D2-4D81-E3FE-5C82802054EA}"/>
              </a:ext>
            </a:extLst>
          </p:cNvPr>
          <p:cNvSpPr txBox="1"/>
          <p:nvPr/>
        </p:nvSpPr>
        <p:spPr>
          <a:xfrm>
            <a:off x="485971" y="24279008"/>
            <a:ext cx="13840594" cy="535531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lvl="1" algn="ctr"/>
            <a:r>
              <a:rPr lang="en-US" b="1" dirty="0">
                <a:solidFill>
                  <a:srgbClr val="0E3E89"/>
                </a:solidFill>
                <a:latin typeface="Arial" panose="020B0604020202020204" pitchFamily="34" charset="0"/>
                <a:cs typeface="Arial" panose="020B0604020202020204" pitchFamily="34" charset="0"/>
              </a:rPr>
              <a:t>Project Scope and Goals</a:t>
            </a:r>
          </a:p>
          <a:p>
            <a:pPr algn="just"/>
            <a:r>
              <a:rPr lang="en-US" dirty="0">
                <a:latin typeface="Arial" panose="020B0604020202020204" pitchFamily="34" charset="0"/>
                <a:cs typeface="Arial" panose="020B0604020202020204" pitchFamily="34" charset="0"/>
              </a:rPr>
              <a:t>This proposed project focuses on the development of a Zero Trust cybersecurity policies and compliance plan for a small cloud-based accounting firm. The scope of this proposed project is limited to addressing critical cybersecurity challenges related to IAM, insider-related risks, cloud governance, and compliance enforcement. The focus remains on information security policy development and compliance plan, rather than technical implementation or procedural configurations. The scope includes the development of formalized information security policies, and a compliance plan aligned Zero Trust principles, including identity and authentication, access control, data protection, acceptable use, logging and monitoring, and incident response. In addition, this proposed project includes the design of a continuous compliance plan that supports policy enforcement, monitoring, and accountability across the organization. These policies will be aligned with the NIST (CSF) 2.0, which provides structured guidance for governance, risk management, and continuous improvement of cybersecurity practices (NIST, 2024). The primary goal of this proposed project is to strengthen the organization’s information security policy development and continuous compliance capabilities by establishing a structured and enforceable governance policies. Specifically, the project aims to improve identity and access governance through cybersecurity policies aligned with Zero Trust principles such as least privilege and continuous verification (NIST, 2020). This project will also aim to reduce risks associated with unauthorized access and insider-related activities through clearly defined and enforceability. Attempt to strengthen  compliance posture by introducing a continuous compliance plan that supports monitoring, accountability, and policy enforcement (NIST, 2024). Enhance organizational cybersecurity governance by aligning policies with the NIST (CSF) 2.0 and supporting risk-informed decision-making processes. The intended outcome of this proposed project is to provide the organization with structured, standard-aligned cybersecurity policies and compliance plans that improve its ability to manage cybersecurity risks, protect sensitive financial data, and support long-term governance and regulatory readiness. </a:t>
            </a:r>
          </a:p>
        </p:txBody>
      </p:sp>
      <p:sp>
        <p:nvSpPr>
          <p:cNvPr id="14350" name="TextBox 14349">
            <a:extLst>
              <a:ext uri="{FF2B5EF4-FFF2-40B4-BE49-F238E27FC236}">
                <a16:creationId xmlns:a16="http://schemas.microsoft.com/office/drawing/2014/main" id="{22EE01CE-DD95-4E30-BA84-A8F1DC946DF4}"/>
              </a:ext>
            </a:extLst>
          </p:cNvPr>
          <p:cNvSpPr txBox="1"/>
          <p:nvPr/>
        </p:nvSpPr>
        <p:spPr>
          <a:xfrm>
            <a:off x="15328478" y="14398982"/>
            <a:ext cx="22388944" cy="369332"/>
          </a:xfrm>
          <a:prstGeom prst="rect">
            <a:avLst/>
          </a:prstGeom>
          <a:noFill/>
          <a:effectLst>
            <a:outerShdw blurRad="50800" dist="38100" dir="2700000" algn="tl" rotWithShape="0">
              <a:prstClr val="black">
                <a:alpha val="40000"/>
              </a:prstClr>
            </a:outerShdw>
          </a:effectLst>
        </p:spPr>
        <p:txBody>
          <a:bodyPr wrap="square">
            <a:spAutoFit/>
          </a:bodyPr>
          <a:lstStyle/>
          <a:p>
            <a:r>
              <a:rPr lang="en-US" b="1" dirty="0">
                <a:solidFill>
                  <a:srgbClr val="0E3E89"/>
                </a:solidFill>
                <a:latin typeface="Arial" panose="020B0604020202020204" pitchFamily="34" charset="0"/>
                <a:cs typeface="Arial" panose="020B0604020202020204" pitchFamily="34" charset="0"/>
              </a:rPr>
              <a:t>Table 3 : Recommended Solution</a:t>
            </a:r>
          </a:p>
        </p:txBody>
      </p:sp>
      <p:graphicFrame>
        <p:nvGraphicFramePr>
          <p:cNvPr id="14355" name="Table 14354">
            <a:extLst>
              <a:ext uri="{FF2B5EF4-FFF2-40B4-BE49-F238E27FC236}">
                <a16:creationId xmlns:a16="http://schemas.microsoft.com/office/drawing/2014/main" id="{30200857-2DAA-FDBE-3A3D-924645CA0B88}"/>
              </a:ext>
            </a:extLst>
          </p:cNvPr>
          <p:cNvGraphicFramePr>
            <a:graphicFrameLocks noGrp="1"/>
          </p:cNvGraphicFramePr>
          <p:nvPr>
            <p:extLst>
              <p:ext uri="{D42A27DB-BD31-4B8C-83A1-F6EECF244321}">
                <p14:modId xmlns:p14="http://schemas.microsoft.com/office/powerpoint/2010/main" val="1708634913"/>
              </p:ext>
            </p:extLst>
          </p:nvPr>
        </p:nvGraphicFramePr>
        <p:xfrm>
          <a:off x="31935656" y="14492030"/>
          <a:ext cx="11714871" cy="4389661"/>
        </p:xfrm>
        <a:graphic>
          <a:graphicData uri="http://schemas.openxmlformats.org/drawingml/2006/table">
            <a:tbl>
              <a:tblPr firstRow="1" firstCol="1" bandRow="1">
                <a:effectLst>
                  <a:outerShdw blurRad="50800" dist="38100" dir="2700000" algn="tl" rotWithShape="0">
                    <a:prstClr val="black">
                      <a:alpha val="40000"/>
                    </a:prstClr>
                  </a:outerShdw>
                </a:effectLst>
                <a:tableStyleId>{5C22544A-7EE6-4342-B048-85BDC9FD1C3A}</a:tableStyleId>
              </a:tblPr>
              <a:tblGrid>
                <a:gridCol w="4192200">
                  <a:extLst>
                    <a:ext uri="{9D8B030D-6E8A-4147-A177-3AD203B41FA5}">
                      <a16:colId xmlns:a16="http://schemas.microsoft.com/office/drawing/2014/main" val="2733329604"/>
                    </a:ext>
                  </a:extLst>
                </a:gridCol>
                <a:gridCol w="2468740">
                  <a:extLst>
                    <a:ext uri="{9D8B030D-6E8A-4147-A177-3AD203B41FA5}">
                      <a16:colId xmlns:a16="http://schemas.microsoft.com/office/drawing/2014/main" val="560999489"/>
                    </a:ext>
                  </a:extLst>
                </a:gridCol>
                <a:gridCol w="1187790">
                  <a:extLst>
                    <a:ext uri="{9D8B030D-6E8A-4147-A177-3AD203B41FA5}">
                      <a16:colId xmlns:a16="http://schemas.microsoft.com/office/drawing/2014/main" val="3327737076"/>
                    </a:ext>
                  </a:extLst>
                </a:gridCol>
                <a:gridCol w="1746751">
                  <a:extLst>
                    <a:ext uri="{9D8B030D-6E8A-4147-A177-3AD203B41FA5}">
                      <a16:colId xmlns:a16="http://schemas.microsoft.com/office/drawing/2014/main" val="2372513289"/>
                    </a:ext>
                  </a:extLst>
                </a:gridCol>
                <a:gridCol w="1024760">
                  <a:extLst>
                    <a:ext uri="{9D8B030D-6E8A-4147-A177-3AD203B41FA5}">
                      <a16:colId xmlns:a16="http://schemas.microsoft.com/office/drawing/2014/main" val="1481017849"/>
                    </a:ext>
                  </a:extLst>
                </a:gridCol>
                <a:gridCol w="1094630">
                  <a:extLst>
                    <a:ext uri="{9D8B030D-6E8A-4147-A177-3AD203B41FA5}">
                      <a16:colId xmlns:a16="http://schemas.microsoft.com/office/drawing/2014/main" val="2260757504"/>
                    </a:ext>
                  </a:extLst>
                </a:gridCol>
              </a:tblGrid>
              <a:tr h="837694">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Equipment / Service Item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Performed By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ACT #</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Cost per Item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 of Items</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Total ($)</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2342986632"/>
                  </a:ext>
                </a:extLst>
              </a:tr>
              <a:tr h="598319">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Identity &amp; MFA Policy  Development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Internal IT Team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ACT1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$1,200.00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$1,200.00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518983123"/>
                  </a:ext>
                </a:extLst>
              </a:tr>
              <a:tr h="416153">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Access Control Policy Development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Internal IT Team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ACT2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$1,000.00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$1,000.00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066474343"/>
                  </a:ext>
                </a:extLst>
              </a:tr>
              <a:tr h="432390">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Cloud Security Governance Policy Development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Contractor (Security Consultant)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ACT3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$2,500.00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$2,500.00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736121129"/>
                  </a:ext>
                </a:extLst>
              </a:tr>
              <a:tr h="342912">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Logging &amp; Monitoring review policy development </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Internal IT Team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a:effectLst/>
                          <a:latin typeface="Arial" panose="020B0604020202020204" pitchFamily="34" charset="0"/>
                          <a:cs typeface="Arial" panose="020B0604020202020204" pitchFamily="34" charset="0"/>
                        </a:rPr>
                        <a:t>ACT4</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$1,500.00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$1,500.00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72874090"/>
                  </a:ext>
                </a:extLst>
              </a:tr>
              <a:tr h="335869">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Data Classification &amp; Protection Policy Implementation</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Internal IT Team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ACT6</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$1,200.00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$1,200.00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122612261"/>
                  </a:ext>
                </a:extLst>
              </a:tr>
              <a:tr h="335869">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Security Awareness Training Program</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Contractor (Training Provider)</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ACT5</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   800.00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   800.00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4216598712"/>
                  </a:ext>
                </a:extLst>
              </a:tr>
              <a:tr h="586775">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Incident Response Plan Development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Contractor (Security Consultant)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00000"/>
                        </a:lnSpc>
                        <a:spcAft>
                          <a:spcPts val="800"/>
                        </a:spcAft>
                        <a:buNone/>
                      </a:pPr>
                      <a:r>
                        <a:rPr lang="en-US" sz="1600" dirty="0">
                          <a:effectLst/>
                          <a:latin typeface="Arial" panose="020B0604020202020204" pitchFamily="34" charset="0"/>
                          <a:cs typeface="Arial" panose="020B0604020202020204" pitchFamily="34" charset="0"/>
                        </a:rPr>
                        <a:t>ACT7</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a:effectLst/>
                          <a:latin typeface="Arial" panose="020B0604020202020204" pitchFamily="34" charset="0"/>
                          <a:cs typeface="Arial" panose="020B0604020202020204" pitchFamily="34" charset="0"/>
                        </a:rPr>
                        <a:t>$1,800.00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r">
                        <a:lnSpc>
                          <a:spcPct val="100000"/>
                        </a:lnSpc>
                        <a:spcAft>
                          <a:spcPts val="800"/>
                        </a:spcAft>
                        <a:buNone/>
                      </a:pPr>
                      <a:r>
                        <a:rPr lang="en-US" sz="1600" dirty="0">
                          <a:effectLst/>
                          <a:latin typeface="Arial" panose="020B0604020202020204" pitchFamily="34" charset="0"/>
                          <a:cs typeface="Arial" panose="020B0604020202020204" pitchFamily="34" charset="0"/>
                        </a:rPr>
                        <a:t>$1,800.00</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801369205"/>
                  </a:ext>
                </a:extLst>
              </a:tr>
            </a:tbl>
          </a:graphicData>
        </a:graphic>
      </p:graphicFrame>
      <p:sp>
        <p:nvSpPr>
          <p:cNvPr id="14362" name="TextBox 14361">
            <a:extLst>
              <a:ext uri="{FF2B5EF4-FFF2-40B4-BE49-F238E27FC236}">
                <a16:creationId xmlns:a16="http://schemas.microsoft.com/office/drawing/2014/main" id="{DDF71180-0530-E588-4B0A-5608D507AFC2}"/>
              </a:ext>
            </a:extLst>
          </p:cNvPr>
          <p:cNvSpPr txBox="1"/>
          <p:nvPr/>
        </p:nvSpPr>
        <p:spPr>
          <a:xfrm>
            <a:off x="31941891" y="12603260"/>
            <a:ext cx="1160976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Proposed Cost</a:t>
            </a:r>
          </a:p>
          <a:p>
            <a:r>
              <a:rPr lang="en-US" dirty="0">
                <a:latin typeface="Arial" panose="020B0604020202020204" pitchFamily="34" charset="0"/>
                <a:cs typeface="Arial" panose="020B0604020202020204" pitchFamily="34" charset="0"/>
              </a:rPr>
              <a:t>The proposed costs reflect a policy-driven implementation approach aligned with the NIST CSF (NIST, 2024), focusing on governance and compliance rather than infrastructure expansion.</a:t>
            </a:r>
          </a:p>
          <a:p>
            <a:r>
              <a:rPr lang="en-US" dirty="0">
                <a:latin typeface="Arial" panose="020B0604020202020204" pitchFamily="34" charset="0"/>
                <a:cs typeface="Arial" panose="020B0604020202020204" pitchFamily="34" charset="0"/>
              </a:rPr>
              <a:t> </a:t>
            </a:r>
          </a:p>
        </p:txBody>
      </p:sp>
      <p:sp>
        <p:nvSpPr>
          <p:cNvPr id="14366" name="TextBox 14365">
            <a:extLst>
              <a:ext uri="{FF2B5EF4-FFF2-40B4-BE49-F238E27FC236}">
                <a16:creationId xmlns:a16="http://schemas.microsoft.com/office/drawing/2014/main" id="{1C4FBC6B-B299-DD37-5DF8-1A6BE7EDDAFD}"/>
              </a:ext>
            </a:extLst>
          </p:cNvPr>
          <p:cNvSpPr txBox="1"/>
          <p:nvPr/>
        </p:nvSpPr>
        <p:spPr>
          <a:xfrm>
            <a:off x="31891274" y="19267068"/>
            <a:ext cx="11816618" cy="341632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US" b="1" dirty="0">
                <a:solidFill>
                  <a:srgbClr val="0E3E89"/>
                </a:solidFill>
                <a:latin typeface="Arial" panose="020B0604020202020204" pitchFamily="34" charset="0"/>
                <a:cs typeface="Arial" panose="020B0604020202020204" pitchFamily="34" charset="0"/>
              </a:rPr>
              <a:t>Conclusion</a:t>
            </a:r>
          </a:p>
          <a:p>
            <a:pPr algn="just"/>
            <a:r>
              <a:rPr lang="en-US" dirty="0">
                <a:latin typeface="Arial" panose="020B0604020202020204" pitchFamily="34" charset="0"/>
                <a:cs typeface="Arial" panose="020B0604020202020204" pitchFamily="34" charset="0"/>
              </a:rPr>
              <a:t>This project aims to develop Zero Trust cybersecurity policies and continuous compliance plan for a small cloud-based accounting firm, focusing on key risks such as identity and access management, insider threats, cloud governance, and compliance enforcement. The goal is to attempt to strengthen cybersecurity through structured, enforceable cybersecurity policies and continuous compliance rather than informal practices. This proposed project introduces a governance-driven approach aligned with the NIST CSF, improving the organization’s ability to protect sensitive financial data, enhance accountability, and maintain regulatory compliance. The inclusion of a continuous compliance plan supports ongoing enforcement and monitoring of policies. Strategically, this proposed project advances the organization from NIST Tier 1 (Partial) to Tier 2 (Risk-Informed), enabling a shift from reactive to proactive, policy-driven cybersecurity governance (NIST, 2024). This proposed project demonstrates how structured information security policies and continuous compliance mechanisms can transform organizational cybersecurity maturity from reactive practices to risk-informed governance aligned with the NIST CSF.</a:t>
            </a:r>
          </a:p>
        </p:txBody>
      </p:sp>
      <p:sp>
        <p:nvSpPr>
          <p:cNvPr id="14370" name="TextBox 14369">
            <a:extLst>
              <a:ext uri="{FF2B5EF4-FFF2-40B4-BE49-F238E27FC236}">
                <a16:creationId xmlns:a16="http://schemas.microsoft.com/office/drawing/2014/main" id="{1D5CB385-A13F-4CCB-E928-CD85C4362DFE}"/>
              </a:ext>
            </a:extLst>
          </p:cNvPr>
          <p:cNvSpPr txBox="1"/>
          <p:nvPr/>
        </p:nvSpPr>
        <p:spPr>
          <a:xfrm>
            <a:off x="31891274" y="22947764"/>
            <a:ext cx="11946713" cy="701730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endParaRPr lang="en-US" dirty="0">
              <a:latin typeface="Arial" panose="020B0604020202020204" pitchFamily="34" charset="0"/>
              <a:cs typeface="Arial" panose="020B0604020202020204" pitchFamily="34" charset="0"/>
            </a:endParaRPr>
          </a:p>
          <a:p>
            <a:pPr algn="ctr"/>
            <a:r>
              <a:rPr lang="en-US" b="1" dirty="0">
                <a:solidFill>
                  <a:srgbClr val="0E3E89"/>
                </a:solidFill>
                <a:latin typeface="Arial" panose="020B0604020202020204" pitchFamily="34" charset="0"/>
                <a:cs typeface="Arial" panose="020B0604020202020204" pitchFamily="34" charset="0"/>
              </a:rPr>
              <a:t>References</a:t>
            </a:r>
          </a:p>
          <a:p>
            <a:pPr indent="-457200" algn="just"/>
            <a:r>
              <a:rPr lang="en-US" dirty="0">
                <a:latin typeface="Arial" panose="020B0604020202020204" pitchFamily="34" charset="0"/>
                <a:cs typeface="Arial" panose="020B0604020202020204" pitchFamily="34" charset="0"/>
              </a:rPr>
              <a:t>Hegde, T., Gangl, J., Babenko, S., &amp; Coffman, J. (2023). Cloud security frameworks:</a:t>
            </a:r>
          </a:p>
          <a:p>
            <a:pPr indent="-457200" algn="just"/>
            <a:r>
              <a:rPr lang="en-US" dirty="0">
                <a:latin typeface="Arial" panose="020B0604020202020204" pitchFamily="34" charset="0"/>
                <a:cs typeface="Arial" panose="020B0604020202020204" pitchFamily="34" charset="0"/>
              </a:rPr>
              <a:t>	 Comparison to evaluate cloud control standards. In </a:t>
            </a:r>
            <a:r>
              <a:rPr lang="en-US" i="1" dirty="0">
                <a:latin typeface="Arial" panose="020B0604020202020204" pitchFamily="34" charset="0"/>
                <a:cs typeface="Arial" panose="020B0604020202020204" pitchFamily="34" charset="0"/>
              </a:rPr>
              <a:t>Proceedings of the IEEE/ACM International Conference on Utility 	and Cloud Computing</a:t>
            </a:r>
            <a:r>
              <a:rPr lang="en-US" dirty="0">
                <a:latin typeface="Arial" panose="020B0604020202020204" pitchFamily="34" charset="0"/>
                <a:cs typeface="Arial" panose="020B0604020202020204" pitchFamily="34" charset="0"/>
              </a:rPr>
              <a:t>. </a:t>
            </a:r>
            <a:r>
              <a:rPr lang="en-US" u="sng" dirty="0">
                <a:latin typeface="Arial" panose="020B0604020202020204" pitchFamily="34" charset="0"/>
                <a:cs typeface="Arial" panose="020B0604020202020204" pitchFamily="34" charset="0"/>
                <a:hlinkClick r:id="rId6"/>
              </a:rPr>
              <a:t>https://doi.org/10.1145/3603166.3632553</a:t>
            </a:r>
            <a:endParaRPr lang="en-US" u="sng" dirty="0">
              <a:latin typeface="Arial" panose="020B0604020202020204" pitchFamily="34" charset="0"/>
              <a:cs typeface="Arial" panose="020B0604020202020204" pitchFamily="34" charset="0"/>
            </a:endParaRP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IBM. (2025). </a:t>
            </a:r>
            <a:r>
              <a:rPr lang="en-US" i="1" dirty="0">
                <a:latin typeface="Arial" panose="020B0604020202020204" pitchFamily="34" charset="0"/>
                <a:cs typeface="Arial" panose="020B0604020202020204" pitchFamily="34" charset="0"/>
              </a:rPr>
              <a:t>Cost of a data breach report 2025</a:t>
            </a:r>
            <a:r>
              <a:rPr lang="en-US" dirty="0">
                <a:latin typeface="Arial" panose="020B0604020202020204" pitchFamily="34" charset="0"/>
                <a:cs typeface="Arial" panose="020B0604020202020204" pitchFamily="34" charset="0"/>
              </a:rPr>
              <a:t>. IBM Security. </a:t>
            </a:r>
            <a:r>
              <a:rPr lang="en-US" u="sng" dirty="0">
                <a:latin typeface="Arial" panose="020B0604020202020204" pitchFamily="34" charset="0"/>
                <a:cs typeface="Arial" panose="020B0604020202020204" pitchFamily="34" charset="0"/>
                <a:hlinkClick r:id="rId7"/>
              </a:rPr>
              <a:t>https://www.ibm.com/reports/data-breach</a:t>
            </a:r>
            <a:endParaRPr lang="en-US" u="sng" dirty="0">
              <a:latin typeface="Arial" panose="020B0604020202020204" pitchFamily="34" charset="0"/>
              <a:cs typeface="Arial" panose="020B0604020202020204" pitchFamily="34" charset="0"/>
            </a:endParaRP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National Institute of Standards and Technology. (2020). </a:t>
            </a:r>
            <a:r>
              <a:rPr lang="en-US" i="1" dirty="0">
                <a:latin typeface="Arial" panose="020B0604020202020204" pitchFamily="34" charset="0"/>
                <a:cs typeface="Arial" panose="020B0604020202020204" pitchFamily="34" charset="0"/>
              </a:rPr>
              <a:t>Zero trust architecture</a:t>
            </a:r>
            <a:r>
              <a:rPr lang="en-US" dirty="0">
                <a:latin typeface="Arial" panose="020B0604020202020204" pitchFamily="34" charset="0"/>
                <a:cs typeface="Arial" panose="020B0604020202020204" pitchFamily="34" charset="0"/>
              </a:rPr>
              <a:t> (SP 800-207). U.S. Department of Commerce. 	</a:t>
            </a:r>
            <a:r>
              <a:rPr lang="en-US" u="sng" dirty="0">
                <a:latin typeface="Arial" panose="020B0604020202020204" pitchFamily="34" charset="0"/>
                <a:cs typeface="Arial" panose="020B0604020202020204" pitchFamily="34" charset="0"/>
                <a:hlinkClick r:id="rId8"/>
              </a:rPr>
              <a:t>https://nvlpubs.nist.gov/nistpubs/SpecialPublications/NIST.SP.800-207.pdf</a:t>
            </a:r>
            <a:endParaRPr lang="en-US" u="sng" dirty="0">
              <a:latin typeface="Arial" panose="020B0604020202020204" pitchFamily="34" charset="0"/>
              <a:cs typeface="Arial" panose="020B0604020202020204" pitchFamily="34" charset="0"/>
            </a:endParaRP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National Institute of Standards and Technology. (2024). </a:t>
            </a:r>
            <a:r>
              <a:rPr lang="en-US" i="1" dirty="0">
                <a:latin typeface="Arial" panose="020B0604020202020204" pitchFamily="34" charset="0"/>
                <a:cs typeface="Arial" panose="020B0604020202020204" pitchFamily="34" charset="0"/>
              </a:rPr>
              <a:t>Cybersecurity framework (CSF) 2.0</a:t>
            </a:r>
            <a:r>
              <a:rPr lang="en-US" dirty="0">
                <a:latin typeface="Arial" panose="020B0604020202020204" pitchFamily="34" charset="0"/>
                <a:cs typeface="Arial" panose="020B0604020202020204" pitchFamily="34" charset="0"/>
              </a:rPr>
              <a:t>. U.S. Department of Commerce. 	</a:t>
            </a:r>
            <a:r>
              <a:rPr lang="en-US" u="sng" dirty="0">
                <a:latin typeface="Arial" panose="020B0604020202020204" pitchFamily="34" charset="0"/>
                <a:cs typeface="Arial" panose="020B0604020202020204" pitchFamily="34" charset="0"/>
                <a:hlinkClick r:id="rId9"/>
              </a:rPr>
              <a:t>https://www.nist.gov/cyberframework</a:t>
            </a:r>
            <a:endParaRPr lang="en-US" u="sng" dirty="0">
              <a:latin typeface="Arial" panose="020B0604020202020204" pitchFamily="34" charset="0"/>
              <a:cs typeface="Arial" panose="020B0604020202020204" pitchFamily="34" charset="0"/>
            </a:endParaRP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SANS Institute. (2026a). </a:t>
            </a:r>
            <a:r>
              <a:rPr lang="en-US" i="1" dirty="0">
                <a:latin typeface="Arial" panose="020B0604020202020204" pitchFamily="34" charset="0"/>
                <a:cs typeface="Arial" panose="020B0604020202020204" pitchFamily="34" charset="0"/>
              </a:rPr>
              <a:t>Cloud service provider management policy template</a:t>
            </a:r>
            <a:r>
              <a:rPr lang="en-US" dirty="0">
                <a:latin typeface="Arial" panose="020B0604020202020204" pitchFamily="34" charset="0"/>
                <a:cs typeface="Arial" panose="020B0604020202020204" pitchFamily="34" charset="0"/>
              </a:rPr>
              <a:t>. SANS Security Policy Resource.</a:t>
            </a: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SANS Institute. (2026b). </a:t>
            </a:r>
            <a:r>
              <a:rPr lang="en-US" i="1" dirty="0">
                <a:latin typeface="Arial" panose="020B0604020202020204" pitchFamily="34" charset="0"/>
                <a:cs typeface="Arial" panose="020B0604020202020204" pitchFamily="34" charset="0"/>
              </a:rPr>
              <a:t>Identity management policy template</a:t>
            </a:r>
            <a:r>
              <a:rPr lang="en-US" dirty="0">
                <a:latin typeface="Arial" panose="020B0604020202020204" pitchFamily="34" charset="0"/>
                <a:cs typeface="Arial" panose="020B0604020202020204" pitchFamily="34" charset="0"/>
              </a:rPr>
              <a:t>. SANS Security Policy Resource.</a:t>
            </a:r>
          </a:p>
          <a:p>
            <a:pPr indent="-457200" algn="just"/>
            <a:endParaRPr lang="en-US" dirty="0">
              <a:latin typeface="Arial" panose="020B0604020202020204" pitchFamily="34" charset="0"/>
              <a:cs typeface="Arial" panose="020B0604020202020204" pitchFamily="34" charset="0"/>
            </a:endParaRPr>
          </a:p>
          <a:p>
            <a:pPr indent="-457200" algn="just"/>
            <a:r>
              <a:rPr lang="en-US" dirty="0" err="1">
                <a:latin typeface="Arial" panose="020B0604020202020204" pitchFamily="34" charset="0"/>
                <a:cs typeface="Arial" panose="020B0604020202020204" pitchFamily="34" charset="0"/>
              </a:rPr>
              <a:t>Veloudis</a:t>
            </a:r>
            <a:r>
              <a:rPr lang="en-US" dirty="0">
                <a:latin typeface="Arial" panose="020B0604020202020204" pitchFamily="34" charset="0"/>
                <a:cs typeface="Arial" panose="020B0604020202020204" pitchFamily="34" charset="0"/>
              </a:rPr>
              <a:t>, S., </a:t>
            </a:r>
            <a:r>
              <a:rPr lang="en-US" dirty="0" err="1">
                <a:latin typeface="Arial" panose="020B0604020202020204" pitchFamily="34" charset="0"/>
                <a:cs typeface="Arial" panose="020B0604020202020204" pitchFamily="34" charset="0"/>
              </a:rPr>
              <a:t>Paraskakis</a:t>
            </a:r>
            <a:r>
              <a:rPr lang="en-US" dirty="0">
                <a:latin typeface="Arial" panose="020B0604020202020204" pitchFamily="34" charset="0"/>
                <a:cs typeface="Arial" panose="020B0604020202020204" pitchFamily="34" charset="0"/>
              </a:rPr>
              <a:t>, I., &amp; </a:t>
            </a:r>
            <a:r>
              <a:rPr lang="en-US" dirty="0" err="1">
                <a:latin typeface="Arial" panose="020B0604020202020204" pitchFamily="34" charset="0"/>
                <a:cs typeface="Arial" panose="020B0604020202020204" pitchFamily="34" charset="0"/>
              </a:rPr>
              <a:t>Petsos</a:t>
            </a:r>
            <a:r>
              <a:rPr lang="en-US" dirty="0">
                <a:latin typeface="Arial" panose="020B0604020202020204" pitchFamily="34" charset="0"/>
                <a:cs typeface="Arial" panose="020B0604020202020204" pitchFamily="34" charset="0"/>
              </a:rPr>
              <a:t>, C. (2017). Ontological definition of governance framework for security policies in cloud 	environments. In Proce</a:t>
            </a:r>
            <a:r>
              <a:rPr lang="en-US" i="1" dirty="0">
                <a:latin typeface="Arial" panose="020B0604020202020204" pitchFamily="34" charset="0"/>
                <a:cs typeface="Arial" panose="020B0604020202020204" pitchFamily="34" charset="0"/>
              </a:rPr>
              <a:t>edings of the Pan-Hellenic Conference on Informatics</a:t>
            </a:r>
            <a:r>
              <a:rPr lang="en-US" dirty="0">
                <a:latin typeface="Arial" panose="020B0604020202020204" pitchFamily="34" charset="0"/>
                <a:cs typeface="Arial" panose="020B0604020202020204" pitchFamily="34" charset="0"/>
              </a:rPr>
              <a:t>. 	</a:t>
            </a:r>
            <a:r>
              <a:rPr lang="en-US" u="sng" dirty="0">
                <a:latin typeface="Arial" panose="020B0604020202020204" pitchFamily="34" charset="0"/>
                <a:cs typeface="Arial" panose="020B0604020202020204" pitchFamily="34" charset="0"/>
                <a:hlinkClick r:id="rId10"/>
              </a:rPr>
              <a:t>https://doi.org/10.1145/3139367.3139401</a:t>
            </a:r>
            <a:endParaRPr lang="en-US" u="sng" dirty="0">
              <a:latin typeface="Arial" panose="020B0604020202020204" pitchFamily="34" charset="0"/>
              <a:cs typeface="Arial" panose="020B0604020202020204" pitchFamily="34" charset="0"/>
            </a:endParaRPr>
          </a:p>
          <a:p>
            <a:pPr indent="-457200" algn="just"/>
            <a:endParaRPr lang="en-US" dirty="0">
              <a:latin typeface="Arial" panose="020B0604020202020204" pitchFamily="34" charset="0"/>
              <a:cs typeface="Arial" panose="020B0604020202020204" pitchFamily="34" charset="0"/>
            </a:endParaRPr>
          </a:p>
          <a:p>
            <a:pPr indent="-457200" algn="just"/>
            <a:r>
              <a:rPr lang="en-US" dirty="0">
                <a:latin typeface="Arial" panose="020B0604020202020204" pitchFamily="34" charset="0"/>
                <a:cs typeface="Arial" panose="020B0604020202020204" pitchFamily="34" charset="0"/>
              </a:rPr>
              <a:t>Ziani, A., &amp; </a:t>
            </a:r>
            <a:r>
              <a:rPr lang="en-US" dirty="0" err="1">
                <a:latin typeface="Arial" panose="020B0604020202020204" pitchFamily="34" charset="0"/>
                <a:cs typeface="Arial" panose="020B0604020202020204" pitchFamily="34" charset="0"/>
              </a:rPr>
              <a:t>Medouri</a:t>
            </a:r>
            <a:r>
              <a:rPr lang="en-US" dirty="0">
                <a:latin typeface="Arial" panose="020B0604020202020204" pitchFamily="34" charset="0"/>
                <a:cs typeface="Arial" panose="020B0604020202020204" pitchFamily="34" charset="0"/>
              </a:rPr>
              <a:t>, A. (2018). Risks and security requirements for cloud environments. In </a:t>
            </a:r>
            <a:r>
              <a:rPr lang="en-US" i="1" dirty="0">
                <a:latin typeface="Arial" panose="020B0604020202020204" pitchFamily="34" charset="0"/>
                <a:cs typeface="Arial" panose="020B0604020202020204" pitchFamily="34" charset="0"/>
              </a:rPr>
              <a:t>Proceedings of the International 	Conference on Smart City Applications</a:t>
            </a:r>
            <a:r>
              <a:rPr lang="en-US" dirty="0">
                <a:latin typeface="Arial" panose="020B0604020202020204" pitchFamily="34" charset="0"/>
                <a:cs typeface="Arial" panose="020B0604020202020204" pitchFamily="34" charset="0"/>
              </a:rPr>
              <a:t>. </a:t>
            </a:r>
            <a:r>
              <a:rPr lang="en-US" u="sng" dirty="0">
                <a:latin typeface="Arial" panose="020B0604020202020204" pitchFamily="34" charset="0"/>
                <a:cs typeface="Arial" panose="020B0604020202020204" pitchFamily="34" charset="0"/>
                <a:hlinkClick r:id="rId11"/>
              </a:rPr>
              <a:t>https://doi.org/10.1145/3286606.3286865</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D6CAE93B-AF3D-1EF5-8353-13D054342C5D}"/>
              </a:ext>
            </a:extLst>
          </p:cNvPr>
          <p:cNvSpPr txBox="1"/>
          <p:nvPr/>
        </p:nvSpPr>
        <p:spPr>
          <a:xfrm>
            <a:off x="31944397" y="14027912"/>
            <a:ext cx="22212300" cy="369332"/>
          </a:xfrm>
          <a:prstGeom prst="rect">
            <a:avLst/>
          </a:prstGeom>
          <a:noFill/>
        </p:spPr>
        <p:txBody>
          <a:bodyPr wrap="square">
            <a:spAutoFit/>
          </a:bodyPr>
          <a:lstStyle/>
          <a:p>
            <a:r>
              <a:rPr lang="en-US" b="1" dirty="0">
                <a:solidFill>
                  <a:srgbClr val="0E3E89"/>
                </a:solidFill>
                <a:latin typeface="Arial" panose="020B0604020202020204" pitchFamily="34" charset="0"/>
                <a:cs typeface="Arial" panose="020B0604020202020204" pitchFamily="34" charset="0"/>
              </a:rPr>
              <a:t>Table 5: Proposed Cost</a:t>
            </a:r>
          </a:p>
        </p:txBody>
      </p:sp>
      <p:cxnSp>
        <p:nvCxnSpPr>
          <p:cNvPr id="21" name="Straight Connector 20">
            <a:extLst>
              <a:ext uri="{FF2B5EF4-FFF2-40B4-BE49-F238E27FC236}">
                <a16:creationId xmlns:a16="http://schemas.microsoft.com/office/drawing/2014/main" id="{BBF7530E-993F-9ED3-5E5C-0733F0E8EA7E}"/>
              </a:ext>
            </a:extLst>
          </p:cNvPr>
          <p:cNvCxnSpPr>
            <a:cxnSpLocks/>
          </p:cNvCxnSpPr>
          <p:nvPr/>
        </p:nvCxnSpPr>
        <p:spPr>
          <a:xfrm flipV="1">
            <a:off x="34061400" y="4297752"/>
            <a:ext cx="9855200" cy="32638"/>
          </a:xfrm>
          <a:prstGeom prst="line">
            <a:avLst/>
          </a:prstGeom>
          <a:ln w="76200" cmpd="sng"/>
        </p:spPr>
        <p:style>
          <a:lnRef idx="3">
            <a:schemeClr val="accent1"/>
          </a:lnRef>
          <a:fillRef idx="0">
            <a:schemeClr val="accent1"/>
          </a:fillRef>
          <a:effectRef idx="2">
            <a:schemeClr val="accent1"/>
          </a:effectRef>
          <a:fontRef idx="minor">
            <a:schemeClr val="tx1"/>
          </a:fontRef>
        </p:style>
      </p:cxnSp>
      <p:sp>
        <p:nvSpPr>
          <p:cNvPr id="35" name="TextBox 34">
            <a:extLst>
              <a:ext uri="{FF2B5EF4-FFF2-40B4-BE49-F238E27FC236}">
                <a16:creationId xmlns:a16="http://schemas.microsoft.com/office/drawing/2014/main" id="{98E35A9E-CF77-A3A9-C4AF-EC518990AE67}"/>
              </a:ext>
            </a:extLst>
          </p:cNvPr>
          <p:cNvSpPr txBox="1"/>
          <p:nvPr/>
        </p:nvSpPr>
        <p:spPr>
          <a:xfrm>
            <a:off x="15398385" y="22560524"/>
            <a:ext cx="22388944" cy="369332"/>
          </a:xfrm>
          <a:prstGeom prst="rect">
            <a:avLst/>
          </a:prstGeom>
          <a:noFill/>
          <a:effectLst>
            <a:outerShdw blurRad="50800" dist="38100" dir="2700000" algn="tl" rotWithShape="0">
              <a:prstClr val="black">
                <a:alpha val="40000"/>
              </a:prstClr>
            </a:outerShdw>
          </a:effectLst>
        </p:spPr>
        <p:txBody>
          <a:bodyPr wrap="square">
            <a:spAutoFit/>
          </a:bodyPr>
          <a:lstStyle/>
          <a:p>
            <a:r>
              <a:rPr lang="en-US" b="1" dirty="0">
                <a:solidFill>
                  <a:srgbClr val="0E3E89"/>
                </a:solidFill>
                <a:latin typeface="Arial" panose="020B0604020202020204" pitchFamily="34" charset="0"/>
                <a:cs typeface="Arial" panose="020B0604020202020204" pitchFamily="34" charset="0"/>
              </a:rPr>
              <a:t>Table 4 : Action Plan </a:t>
            </a:r>
          </a:p>
        </p:txBody>
      </p:sp>
      <p:cxnSp>
        <p:nvCxnSpPr>
          <p:cNvPr id="39" name="Straight Connector 38">
            <a:extLst>
              <a:ext uri="{FF2B5EF4-FFF2-40B4-BE49-F238E27FC236}">
                <a16:creationId xmlns:a16="http://schemas.microsoft.com/office/drawing/2014/main" id="{8BF37331-158C-2F39-E151-8140289B68E6}"/>
              </a:ext>
            </a:extLst>
          </p:cNvPr>
          <p:cNvCxnSpPr>
            <a:cxnSpLocks/>
          </p:cNvCxnSpPr>
          <p:nvPr/>
        </p:nvCxnSpPr>
        <p:spPr>
          <a:xfrm flipH="1">
            <a:off x="34007796" y="10747013"/>
            <a:ext cx="9830191" cy="0"/>
          </a:xfrm>
          <a:prstGeom prst="line">
            <a:avLst/>
          </a:prstGeom>
          <a:ln w="76200" cmpd="sng"/>
        </p:spPr>
        <p:style>
          <a:lnRef idx="3">
            <a:schemeClr val="accent1"/>
          </a:lnRef>
          <a:fillRef idx="0">
            <a:schemeClr val="accent1"/>
          </a:fillRef>
          <a:effectRef idx="2">
            <a:schemeClr val="accent1"/>
          </a:effectRef>
          <a:fontRef idx="minor">
            <a:schemeClr val="tx1"/>
          </a:fontRef>
        </p:style>
      </p:cxnSp>
      <p:cxnSp>
        <p:nvCxnSpPr>
          <p:cNvPr id="46" name="Straight Connector 45">
            <a:extLst>
              <a:ext uri="{FF2B5EF4-FFF2-40B4-BE49-F238E27FC236}">
                <a16:creationId xmlns:a16="http://schemas.microsoft.com/office/drawing/2014/main" id="{FB314CCB-E60B-AC88-093C-DF983316F4E2}"/>
              </a:ext>
            </a:extLst>
          </p:cNvPr>
          <p:cNvCxnSpPr>
            <a:cxnSpLocks/>
          </p:cNvCxnSpPr>
          <p:nvPr/>
        </p:nvCxnSpPr>
        <p:spPr>
          <a:xfrm flipV="1">
            <a:off x="31673407" y="12327915"/>
            <a:ext cx="17712" cy="17967935"/>
          </a:xfrm>
          <a:prstGeom prst="line">
            <a:avLst/>
          </a:prstGeom>
          <a:ln w="76200" cmpd="sng"/>
        </p:spPr>
        <p:style>
          <a:lnRef idx="3">
            <a:schemeClr val="accent1"/>
          </a:lnRef>
          <a:fillRef idx="0">
            <a:schemeClr val="accent1"/>
          </a:fillRef>
          <a:effectRef idx="2">
            <a:schemeClr val="accent1"/>
          </a:effectRef>
          <a:fontRef idx="minor">
            <a:schemeClr val="tx1"/>
          </a:fontRef>
        </p:style>
      </p:cxnSp>
      <p:cxnSp>
        <p:nvCxnSpPr>
          <p:cNvPr id="50" name="Straight Connector 49">
            <a:extLst>
              <a:ext uri="{FF2B5EF4-FFF2-40B4-BE49-F238E27FC236}">
                <a16:creationId xmlns:a16="http://schemas.microsoft.com/office/drawing/2014/main" id="{5A7F266C-8C92-CDD5-AEEC-7620CC052C64}"/>
              </a:ext>
            </a:extLst>
          </p:cNvPr>
          <p:cNvCxnSpPr>
            <a:cxnSpLocks/>
          </p:cNvCxnSpPr>
          <p:nvPr/>
        </p:nvCxnSpPr>
        <p:spPr>
          <a:xfrm flipV="1">
            <a:off x="31736775" y="12291625"/>
            <a:ext cx="12129025" cy="38164"/>
          </a:xfrm>
          <a:prstGeom prst="line">
            <a:avLst/>
          </a:prstGeom>
          <a:ln w="76200" cmpd="sng"/>
        </p:spPr>
        <p:style>
          <a:lnRef idx="3">
            <a:schemeClr val="accent1"/>
          </a:lnRef>
          <a:fillRef idx="0">
            <a:schemeClr val="accent1"/>
          </a:fillRef>
          <a:effectRef idx="2">
            <a:schemeClr val="accent1"/>
          </a:effectRef>
          <a:fontRef idx="minor">
            <a:schemeClr val="tx1"/>
          </a:fontRef>
        </p:style>
      </p:cxnSp>
      <p:graphicFrame>
        <p:nvGraphicFramePr>
          <p:cNvPr id="3" name="Table 2">
            <a:extLst>
              <a:ext uri="{FF2B5EF4-FFF2-40B4-BE49-F238E27FC236}">
                <a16:creationId xmlns:a16="http://schemas.microsoft.com/office/drawing/2014/main" id="{BC959DBD-5D71-33E5-FAEA-F23DFBC1AC7F}"/>
              </a:ext>
            </a:extLst>
          </p:cNvPr>
          <p:cNvGraphicFramePr>
            <a:graphicFrameLocks noGrp="1"/>
          </p:cNvGraphicFramePr>
          <p:nvPr>
            <p:extLst>
              <p:ext uri="{D42A27DB-BD31-4B8C-83A1-F6EECF244321}">
                <p14:modId xmlns:p14="http://schemas.microsoft.com/office/powerpoint/2010/main" val="2146650087"/>
              </p:ext>
            </p:extLst>
          </p:nvPr>
        </p:nvGraphicFramePr>
        <p:xfrm>
          <a:off x="42573021" y="18875369"/>
          <a:ext cx="1077506" cy="288606"/>
        </p:xfrm>
        <a:graphic>
          <a:graphicData uri="http://schemas.openxmlformats.org/drawingml/2006/table">
            <a:tbl>
              <a:tblPr>
                <a:tableStyleId>{5C22544A-7EE6-4342-B048-85BDC9FD1C3A}</a:tableStyleId>
              </a:tblPr>
              <a:tblGrid>
                <a:gridCol w="1077506">
                  <a:extLst>
                    <a:ext uri="{9D8B030D-6E8A-4147-A177-3AD203B41FA5}">
                      <a16:colId xmlns:a16="http://schemas.microsoft.com/office/drawing/2014/main" val="1943369947"/>
                    </a:ext>
                  </a:extLst>
                </a:gridCol>
              </a:tblGrid>
              <a:tr h="288606">
                <a:tc>
                  <a:txBody>
                    <a:bodyPr/>
                    <a:lstStyle/>
                    <a:p>
                      <a:pPr algn="r" fontAlgn="b">
                        <a:buNone/>
                      </a:pPr>
                      <a:r>
                        <a:rPr lang="en-US" sz="1100" u="none" strike="noStrike" dirty="0">
                          <a:effectLst/>
                        </a:rPr>
                        <a:t>$10,000.00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36005621"/>
                  </a:ext>
                </a:extLst>
              </a:tr>
            </a:tbl>
          </a:graphicData>
        </a:graphic>
      </p:graphicFrame>
      <p:graphicFrame>
        <p:nvGraphicFramePr>
          <p:cNvPr id="6" name="Table 5">
            <a:extLst>
              <a:ext uri="{FF2B5EF4-FFF2-40B4-BE49-F238E27FC236}">
                <a16:creationId xmlns:a16="http://schemas.microsoft.com/office/drawing/2014/main" id="{8C1F740B-726E-E8F0-6FDE-718A0760836B}"/>
              </a:ext>
            </a:extLst>
          </p:cNvPr>
          <p:cNvGraphicFramePr>
            <a:graphicFrameLocks noGrp="1"/>
          </p:cNvGraphicFramePr>
          <p:nvPr>
            <p:extLst>
              <p:ext uri="{D42A27DB-BD31-4B8C-83A1-F6EECF244321}">
                <p14:modId xmlns:p14="http://schemas.microsoft.com/office/powerpoint/2010/main" val="2733690318"/>
              </p:ext>
            </p:extLst>
          </p:nvPr>
        </p:nvGraphicFramePr>
        <p:xfrm>
          <a:off x="41543840" y="18870387"/>
          <a:ext cx="1029181" cy="275680"/>
        </p:xfrm>
        <a:graphic>
          <a:graphicData uri="http://schemas.openxmlformats.org/drawingml/2006/table">
            <a:tbl>
              <a:tblPr>
                <a:tableStyleId>{5C22544A-7EE6-4342-B048-85BDC9FD1C3A}</a:tableStyleId>
              </a:tblPr>
              <a:tblGrid>
                <a:gridCol w="1029181">
                  <a:extLst>
                    <a:ext uri="{9D8B030D-6E8A-4147-A177-3AD203B41FA5}">
                      <a16:colId xmlns:a16="http://schemas.microsoft.com/office/drawing/2014/main" val="4129375122"/>
                    </a:ext>
                  </a:extLst>
                </a:gridCol>
              </a:tblGrid>
              <a:tr h="275680">
                <a:tc>
                  <a:txBody>
                    <a:bodyPr/>
                    <a:lstStyle/>
                    <a:p>
                      <a:pPr algn="r" fontAlgn="b">
                        <a:buNone/>
                      </a:pPr>
                      <a:r>
                        <a:rPr lang="en-US" sz="1100" u="none" strike="noStrike" dirty="0">
                          <a:effectLst/>
                        </a:rPr>
                        <a:t>TOTAL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2717199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1129</TotalTime>
  <Words>3527</Words>
  <Application>Microsoft Office PowerPoint</Application>
  <PresentationFormat>Custom</PresentationFormat>
  <Paragraphs>268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 Narrow</vt:lpstr>
      <vt:lpstr>Arial</vt:lpstr>
      <vt:lpstr>Calibri</vt:lpstr>
      <vt:lpstr>Office Theme</vt:lpstr>
      <vt:lpstr>PowerPoint Presentation</vt:lpstr>
    </vt:vector>
  </TitlesOfParts>
  <Manager/>
  <Company>Nova Southeastern University (NSU)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Poster - ISEC695 - Information Security Management Project Capstone Poster</dc:title>
  <dc:subject/>
  <dc:creator>Yair Levy, Ph.D. (levyy@nova.edu), Professor of Information Systems and Cybersecurity</dc:creator>
  <cp:keywords/>
  <dc:description/>
  <cp:lastModifiedBy>Ashley Henry</cp:lastModifiedBy>
  <cp:revision>105</cp:revision>
  <dcterms:created xsi:type="dcterms:W3CDTF">2010-11-12T15:39:49Z</dcterms:created>
  <dcterms:modified xsi:type="dcterms:W3CDTF">2026-04-30T00:14:49Z</dcterms:modified>
  <cp:category/>
</cp:coreProperties>
</file>